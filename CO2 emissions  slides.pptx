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Garet Bold" charset="1" panose="00000000000000000000"/>
      <p:regular r:id="rId29"/>
    </p:embeddedFont>
    <p:embeddedFont>
      <p:font typeface="League Spartan" charset="1" panose="00000800000000000000"/>
      <p:regular r:id="rId30"/>
    </p:embeddedFont>
    <p:embeddedFont>
      <p:font typeface="Poppins Light" charset="1" panose="00000400000000000000"/>
      <p:regular r:id="rId31"/>
    </p:embeddedFont>
    <p:embeddedFont>
      <p:font typeface="Poppins" charset="1" panose="00000500000000000000"/>
      <p:regular r:id="rId32"/>
    </p:embeddedFont>
    <p:embeddedFont>
      <p:font typeface="Poppins Bold" charset="1" panose="00000800000000000000"/>
      <p:regular r:id="rId33"/>
    </p:embeddedFont>
    <p:embeddedFont>
      <p:font typeface="Garet Light" charset="1" panose="000000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 Id="rId7" Target="../media/image3.pn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jpe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1.png" Type="http://schemas.openxmlformats.org/officeDocument/2006/relationships/image"/><Relationship Id="rId5" Target="../media/image20.jpeg" Type="http://schemas.openxmlformats.org/officeDocument/2006/relationships/image"/><Relationship Id="rId6"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png" Type="http://schemas.openxmlformats.org/officeDocument/2006/relationships/image"/><Relationship Id="rId4"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3.png" Type="http://schemas.openxmlformats.org/officeDocument/2006/relationships/image"/><Relationship Id="rId4"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30.png" Type="http://schemas.openxmlformats.org/officeDocument/2006/relationships/image"/><Relationship Id="rId5" Target="../embeddings/oleObject1.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png" Type="http://schemas.openxmlformats.org/officeDocument/2006/relationships/image"/><Relationship Id="rId4"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2217109" y="4580489"/>
            <a:ext cx="10591742" cy="1317596"/>
          </a:xfrm>
          <a:custGeom>
            <a:avLst/>
            <a:gdLst/>
            <a:ahLst/>
            <a:cxnLst/>
            <a:rect r="r" b="b" t="t" l="l"/>
            <a:pathLst>
              <a:path h="1317596" w="10591742">
                <a:moveTo>
                  <a:pt x="0" y="0"/>
                </a:moveTo>
                <a:lnTo>
                  <a:pt x="10591742" y="0"/>
                </a:lnTo>
                <a:lnTo>
                  <a:pt x="10591742" y="1317596"/>
                </a:lnTo>
                <a:lnTo>
                  <a:pt x="0" y="1317596"/>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8100000">
            <a:off x="2109337" y="9544622"/>
            <a:ext cx="5864972" cy="1317596"/>
          </a:xfrm>
          <a:custGeom>
            <a:avLst/>
            <a:gdLst/>
            <a:ahLst/>
            <a:cxnLst/>
            <a:rect r="r" b="b" t="t" l="l"/>
            <a:pathLst>
              <a:path h="1317596" w="5864972">
                <a:moveTo>
                  <a:pt x="0" y="0"/>
                </a:moveTo>
                <a:lnTo>
                  <a:pt x="5864972" y="0"/>
                </a:lnTo>
                <a:lnTo>
                  <a:pt x="5864972" y="1317595"/>
                </a:lnTo>
                <a:lnTo>
                  <a:pt x="0" y="1317595"/>
                </a:lnTo>
                <a:lnTo>
                  <a:pt x="0" y="0"/>
                </a:lnTo>
                <a:close/>
              </a:path>
            </a:pathLst>
          </a:custGeom>
          <a:blipFill>
            <a:blip r:embed="rId2">
              <a:alphaModFix amt="19999"/>
            </a:blip>
            <a:stretch>
              <a:fillRect l="0" t="-7391" r="-47734" b="-7391"/>
            </a:stretch>
          </a:blipFill>
        </p:spPr>
      </p:sp>
      <p:grpSp>
        <p:nvGrpSpPr>
          <p:cNvPr name="Group 4" id="4"/>
          <p:cNvGrpSpPr/>
          <p:nvPr/>
        </p:nvGrpSpPr>
        <p:grpSpPr>
          <a:xfrm rot="-10800000">
            <a:off x="-6729487" y="1836974"/>
            <a:ext cx="13618068" cy="13618068"/>
            <a:chOff x="0" y="0"/>
            <a:chExt cx="812800" cy="812800"/>
          </a:xfrm>
        </p:grpSpPr>
        <p:sp>
          <p:nvSpPr>
            <p:cNvPr name="Freeform 5" id="5"/>
            <p:cNvSpPr/>
            <p:nvPr/>
          </p:nvSpPr>
          <p:spPr>
            <a:xfrm flipH="false" flipV="false" rot="0">
              <a:off x="13187" y="13187"/>
              <a:ext cx="786426" cy="786426"/>
            </a:xfrm>
            <a:custGeom>
              <a:avLst/>
              <a:gdLst/>
              <a:ahLst/>
              <a:cxnLst/>
              <a:rect r="r" b="b" t="t" l="l"/>
              <a:pathLst>
                <a:path h="786426" w="786426">
                  <a:moveTo>
                    <a:pt x="415725" y="9325"/>
                  </a:moveTo>
                  <a:lnTo>
                    <a:pt x="777101" y="370701"/>
                  </a:lnTo>
                  <a:cubicBezTo>
                    <a:pt x="783072" y="376672"/>
                    <a:pt x="786426" y="384770"/>
                    <a:pt x="786426" y="393213"/>
                  </a:cubicBezTo>
                  <a:cubicBezTo>
                    <a:pt x="786426" y="401656"/>
                    <a:pt x="783072" y="409754"/>
                    <a:pt x="777101" y="415725"/>
                  </a:cubicBezTo>
                  <a:lnTo>
                    <a:pt x="415725" y="777101"/>
                  </a:lnTo>
                  <a:cubicBezTo>
                    <a:pt x="409754" y="783072"/>
                    <a:pt x="401656" y="786426"/>
                    <a:pt x="393213" y="786426"/>
                  </a:cubicBezTo>
                  <a:cubicBezTo>
                    <a:pt x="384770" y="786426"/>
                    <a:pt x="376672" y="783072"/>
                    <a:pt x="370701" y="777101"/>
                  </a:cubicBezTo>
                  <a:lnTo>
                    <a:pt x="9325" y="415725"/>
                  </a:lnTo>
                  <a:cubicBezTo>
                    <a:pt x="3354" y="409754"/>
                    <a:pt x="0" y="401656"/>
                    <a:pt x="0" y="393213"/>
                  </a:cubicBezTo>
                  <a:cubicBezTo>
                    <a:pt x="0" y="384770"/>
                    <a:pt x="3354" y="376672"/>
                    <a:pt x="9325" y="370701"/>
                  </a:cubicBezTo>
                  <a:lnTo>
                    <a:pt x="370701" y="9325"/>
                  </a:lnTo>
                  <a:cubicBezTo>
                    <a:pt x="376672" y="3354"/>
                    <a:pt x="384770" y="0"/>
                    <a:pt x="393213" y="0"/>
                  </a:cubicBezTo>
                  <a:cubicBezTo>
                    <a:pt x="401656" y="0"/>
                    <a:pt x="409754" y="3354"/>
                    <a:pt x="415725" y="9325"/>
                  </a:cubicBezTo>
                  <a:close/>
                </a:path>
              </a:pathLst>
            </a:custGeom>
            <a:solidFill>
              <a:srgbClr val="FFFFFF"/>
            </a:solidFill>
          </p:spPr>
        </p:sp>
        <p:sp>
          <p:nvSpPr>
            <p:cNvPr name="TextBox 6" id="6"/>
            <p:cNvSpPr txBox="true"/>
            <p:nvPr/>
          </p:nvSpPr>
          <p:spPr>
            <a:xfrm>
              <a:off x="139700" y="101600"/>
              <a:ext cx="533400" cy="571500"/>
            </a:xfrm>
            <a:prstGeom prst="rect">
              <a:avLst/>
            </a:prstGeom>
          </p:spPr>
          <p:txBody>
            <a:bodyPr anchor="ctr" rtlCol="false" tIns="55757" lIns="55757" bIns="55757" rIns="55757"/>
            <a:lstStyle/>
            <a:p>
              <a:pPr algn="ctr">
                <a:lnSpc>
                  <a:spcPts val="3359"/>
                </a:lnSpc>
              </a:pPr>
            </a:p>
          </p:txBody>
        </p:sp>
      </p:grpSp>
      <p:grpSp>
        <p:nvGrpSpPr>
          <p:cNvPr name="Group 7" id="7"/>
          <p:cNvGrpSpPr/>
          <p:nvPr/>
        </p:nvGrpSpPr>
        <p:grpSpPr>
          <a:xfrm rot="8100000">
            <a:off x="10853164" y="-4114593"/>
            <a:ext cx="3456456" cy="12684271"/>
            <a:chOff x="0" y="0"/>
            <a:chExt cx="910342" cy="3340713"/>
          </a:xfrm>
        </p:grpSpPr>
        <p:sp>
          <p:nvSpPr>
            <p:cNvPr name="Freeform 8" id="8"/>
            <p:cNvSpPr/>
            <p:nvPr/>
          </p:nvSpPr>
          <p:spPr>
            <a:xfrm flipH="false" flipV="false" rot="0">
              <a:off x="0" y="0"/>
              <a:ext cx="910342" cy="3340713"/>
            </a:xfrm>
            <a:custGeom>
              <a:avLst/>
              <a:gdLst/>
              <a:ahLst/>
              <a:cxnLst/>
              <a:rect r="r" b="b" t="t" l="l"/>
              <a:pathLst>
                <a:path h="3340713" w="910342">
                  <a:moveTo>
                    <a:pt x="203200" y="0"/>
                  </a:moveTo>
                  <a:lnTo>
                    <a:pt x="910342" y="0"/>
                  </a:lnTo>
                  <a:lnTo>
                    <a:pt x="707142" y="3340713"/>
                  </a:lnTo>
                  <a:lnTo>
                    <a:pt x="0" y="3340713"/>
                  </a:lnTo>
                  <a:lnTo>
                    <a:pt x="203200" y="0"/>
                  </a:lnTo>
                  <a:close/>
                </a:path>
              </a:pathLst>
            </a:custGeom>
            <a:solidFill>
              <a:srgbClr val="047650"/>
            </a:solidFill>
          </p:spPr>
        </p:sp>
        <p:sp>
          <p:nvSpPr>
            <p:cNvPr name="TextBox 9" id="9"/>
            <p:cNvSpPr txBox="true"/>
            <p:nvPr/>
          </p:nvSpPr>
          <p:spPr>
            <a:xfrm>
              <a:off x="101600" y="-38100"/>
              <a:ext cx="707142" cy="3378813"/>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2518158">
            <a:off x="11271175" y="-549325"/>
            <a:ext cx="6159434" cy="14973834"/>
            <a:chOff x="0" y="0"/>
            <a:chExt cx="1622238" cy="3943726"/>
          </a:xfrm>
        </p:grpSpPr>
        <p:sp>
          <p:nvSpPr>
            <p:cNvPr name="Freeform 11" id="11"/>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7650"/>
            </a:solidFill>
          </p:spPr>
        </p:sp>
        <p:sp>
          <p:nvSpPr>
            <p:cNvPr name="TextBox 12" id="12"/>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8100000">
            <a:off x="9691326" y="-3554324"/>
            <a:ext cx="3456456" cy="12684271"/>
            <a:chOff x="0" y="0"/>
            <a:chExt cx="910342" cy="3340713"/>
          </a:xfrm>
        </p:grpSpPr>
        <p:sp>
          <p:nvSpPr>
            <p:cNvPr name="Freeform 14" id="14"/>
            <p:cNvSpPr/>
            <p:nvPr/>
          </p:nvSpPr>
          <p:spPr>
            <a:xfrm flipH="false" flipV="false" rot="0">
              <a:off x="0" y="0"/>
              <a:ext cx="910342" cy="3340713"/>
            </a:xfrm>
            <a:custGeom>
              <a:avLst/>
              <a:gdLst/>
              <a:ahLst/>
              <a:cxnLst/>
              <a:rect r="r" b="b" t="t" l="l"/>
              <a:pathLst>
                <a:path h="3340713" w="910342">
                  <a:moveTo>
                    <a:pt x="203200" y="0"/>
                  </a:moveTo>
                  <a:lnTo>
                    <a:pt x="910342" y="0"/>
                  </a:lnTo>
                  <a:lnTo>
                    <a:pt x="707142" y="3340713"/>
                  </a:lnTo>
                  <a:lnTo>
                    <a:pt x="0" y="3340713"/>
                  </a:lnTo>
                  <a:lnTo>
                    <a:pt x="203200" y="0"/>
                  </a:lnTo>
                  <a:close/>
                </a:path>
              </a:pathLst>
            </a:custGeom>
            <a:solidFill>
              <a:srgbClr val="047650"/>
            </a:solidFill>
          </p:spPr>
        </p:sp>
        <p:sp>
          <p:nvSpPr>
            <p:cNvPr name="TextBox 15" id="15"/>
            <p:cNvSpPr txBox="true"/>
            <p:nvPr/>
          </p:nvSpPr>
          <p:spPr>
            <a:xfrm>
              <a:off x="101600" y="-38100"/>
              <a:ext cx="707142" cy="3378813"/>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8100000">
            <a:off x="9068140" y="4791031"/>
            <a:ext cx="6163205" cy="1200452"/>
          </a:xfrm>
          <a:custGeom>
            <a:avLst/>
            <a:gdLst/>
            <a:ahLst/>
            <a:cxnLst/>
            <a:rect r="r" b="b" t="t" l="l"/>
            <a:pathLst>
              <a:path h="1200452" w="6163205">
                <a:moveTo>
                  <a:pt x="0" y="0"/>
                </a:moveTo>
                <a:lnTo>
                  <a:pt x="6163204" y="0"/>
                </a:lnTo>
                <a:lnTo>
                  <a:pt x="6163204" y="1200452"/>
                </a:lnTo>
                <a:lnTo>
                  <a:pt x="0" y="1200452"/>
                </a:lnTo>
                <a:lnTo>
                  <a:pt x="0" y="0"/>
                </a:lnTo>
                <a:close/>
              </a:path>
            </a:pathLst>
          </a:custGeom>
          <a:blipFill>
            <a:blip r:embed="rId2">
              <a:alphaModFix amt="27000"/>
            </a:blip>
            <a:stretch>
              <a:fillRect l="-21357" t="-4375" r="0" b="-4375"/>
            </a:stretch>
          </a:blipFill>
        </p:spPr>
      </p:sp>
      <p:sp>
        <p:nvSpPr>
          <p:cNvPr name="Freeform 17" id="17"/>
          <p:cNvSpPr/>
          <p:nvPr/>
        </p:nvSpPr>
        <p:spPr>
          <a:xfrm flipH="false" flipV="false" rot="-2700000">
            <a:off x="8950979" y="1024961"/>
            <a:ext cx="5343536" cy="1200452"/>
          </a:xfrm>
          <a:custGeom>
            <a:avLst/>
            <a:gdLst/>
            <a:ahLst/>
            <a:cxnLst/>
            <a:rect r="r" b="b" t="t" l="l"/>
            <a:pathLst>
              <a:path h="1200452" w="5343536">
                <a:moveTo>
                  <a:pt x="0" y="0"/>
                </a:moveTo>
                <a:lnTo>
                  <a:pt x="5343536" y="0"/>
                </a:lnTo>
                <a:lnTo>
                  <a:pt x="5343536" y="1200453"/>
                </a:lnTo>
                <a:lnTo>
                  <a:pt x="0" y="1200453"/>
                </a:lnTo>
                <a:lnTo>
                  <a:pt x="0" y="0"/>
                </a:lnTo>
                <a:close/>
              </a:path>
            </a:pathLst>
          </a:custGeom>
          <a:blipFill>
            <a:blip r:embed="rId2">
              <a:alphaModFix amt="27000"/>
            </a:blip>
            <a:stretch>
              <a:fillRect l="0" t="-7391" r="-47734" b="-7391"/>
            </a:stretch>
          </a:blipFill>
        </p:spPr>
      </p:sp>
      <p:grpSp>
        <p:nvGrpSpPr>
          <p:cNvPr name="Group 18" id="18"/>
          <p:cNvGrpSpPr/>
          <p:nvPr/>
        </p:nvGrpSpPr>
        <p:grpSpPr>
          <a:xfrm rot="0">
            <a:off x="9870527" y="-3213777"/>
            <a:ext cx="10597131" cy="1059713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25187" t="0" r="-25187" b="0"/>
              </a:stretch>
            </a:blipFill>
            <a:ln cap="sq">
              <a:noFill/>
              <a:prstDash val="solid"/>
              <a:miter/>
            </a:ln>
          </p:spPr>
        </p:sp>
      </p:grpSp>
      <p:sp>
        <p:nvSpPr>
          <p:cNvPr name="Freeform 20" id="20"/>
          <p:cNvSpPr/>
          <p:nvPr/>
        </p:nvSpPr>
        <p:spPr>
          <a:xfrm flipH="false" flipV="false" rot="-8100000">
            <a:off x="12573652" y="7301712"/>
            <a:ext cx="771811" cy="4301341"/>
          </a:xfrm>
          <a:custGeom>
            <a:avLst/>
            <a:gdLst/>
            <a:ahLst/>
            <a:cxnLst/>
            <a:rect r="r" b="b" t="t" l="l"/>
            <a:pathLst>
              <a:path h="4301341" w="771811">
                <a:moveTo>
                  <a:pt x="0" y="0"/>
                </a:moveTo>
                <a:lnTo>
                  <a:pt x="771811" y="0"/>
                </a:lnTo>
                <a:lnTo>
                  <a:pt x="771811" y="4301341"/>
                </a:lnTo>
                <a:lnTo>
                  <a:pt x="0" y="4301341"/>
                </a:lnTo>
                <a:lnTo>
                  <a:pt x="0" y="0"/>
                </a:lnTo>
                <a:close/>
              </a:path>
            </a:pathLst>
          </a:custGeom>
          <a:blipFill>
            <a:blip r:embed="rId4"/>
            <a:stretch>
              <a:fillRect l="-105286" t="0" r="-14595" b="0"/>
            </a:stretch>
          </a:blipFill>
        </p:spPr>
      </p:sp>
      <p:grpSp>
        <p:nvGrpSpPr>
          <p:cNvPr name="Group 21" id="21"/>
          <p:cNvGrpSpPr/>
          <p:nvPr/>
        </p:nvGrpSpPr>
        <p:grpSpPr>
          <a:xfrm rot="2518158">
            <a:off x="14145413" y="3669099"/>
            <a:ext cx="4184293" cy="10172185"/>
            <a:chOff x="0" y="0"/>
            <a:chExt cx="1622238" cy="3943726"/>
          </a:xfrm>
        </p:grpSpPr>
        <p:sp>
          <p:nvSpPr>
            <p:cNvPr name="Freeform 22" id="22"/>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23" id="23"/>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25" id="25"/>
          <p:cNvGrpSpPr/>
          <p:nvPr/>
        </p:nvGrpSpPr>
        <p:grpSpPr>
          <a:xfrm rot="2518158">
            <a:off x="16423857" y="5465352"/>
            <a:ext cx="3280102" cy="7974061"/>
            <a:chOff x="0" y="0"/>
            <a:chExt cx="1622238" cy="3943726"/>
          </a:xfrm>
        </p:grpSpPr>
        <p:sp>
          <p:nvSpPr>
            <p:cNvPr name="Freeform 26" id="26"/>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27" id="27"/>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8" id="28"/>
          <p:cNvSpPr/>
          <p:nvPr/>
        </p:nvSpPr>
        <p:spPr>
          <a:xfrm flipH="false" flipV="false" rot="0">
            <a:off x="6888582" y="1836974"/>
            <a:ext cx="1193734" cy="1043974"/>
          </a:xfrm>
          <a:custGeom>
            <a:avLst/>
            <a:gdLst/>
            <a:ahLst/>
            <a:cxnLst/>
            <a:rect r="r" b="b" t="t" l="l"/>
            <a:pathLst>
              <a:path h="1043974" w="1193734">
                <a:moveTo>
                  <a:pt x="0" y="0"/>
                </a:moveTo>
                <a:lnTo>
                  <a:pt x="1193733" y="0"/>
                </a:lnTo>
                <a:lnTo>
                  <a:pt x="1193733" y="1043974"/>
                </a:lnTo>
                <a:lnTo>
                  <a:pt x="0" y="10439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6906265" y="3713325"/>
            <a:ext cx="3086100" cy="308610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CA8"/>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3359"/>
                </a:lnSpc>
              </a:pPr>
              <a:r>
                <a:rPr lang="en-US" b="true" sz="2400">
                  <a:solidFill>
                    <a:srgbClr val="000000"/>
                  </a:solidFill>
                  <a:latin typeface="Garet Bold"/>
                  <a:ea typeface="Garet Bold"/>
                  <a:cs typeface="Garet Bold"/>
                  <a:sym typeface="Garet Bold"/>
                </a:rPr>
                <a:t>CO2</a:t>
              </a:r>
            </a:p>
          </p:txBody>
        </p:sp>
      </p:grpSp>
      <p:sp>
        <p:nvSpPr>
          <p:cNvPr name="TextBox 32" id="32"/>
          <p:cNvSpPr txBox="true"/>
          <p:nvPr/>
        </p:nvSpPr>
        <p:spPr>
          <a:xfrm rot="0">
            <a:off x="503025" y="3907811"/>
            <a:ext cx="9119853" cy="1402524"/>
          </a:xfrm>
          <a:prstGeom prst="rect">
            <a:avLst/>
          </a:prstGeom>
        </p:spPr>
        <p:txBody>
          <a:bodyPr anchor="t" rtlCol="false" tIns="0" lIns="0" bIns="0" rIns="0">
            <a:spAutoFit/>
          </a:bodyPr>
          <a:lstStyle/>
          <a:p>
            <a:pPr algn="l">
              <a:lnSpc>
                <a:spcPts val="11420"/>
              </a:lnSpc>
            </a:pPr>
            <a:r>
              <a:rPr lang="en-US" sz="8157" b="true">
                <a:solidFill>
                  <a:srgbClr val="047650"/>
                </a:solidFill>
                <a:latin typeface="Garet Bold"/>
                <a:ea typeface="Garet Bold"/>
                <a:cs typeface="Garet Bold"/>
                <a:sym typeface="Garet Bold"/>
              </a:rPr>
              <a:t>FORECASTING</a:t>
            </a:r>
          </a:p>
        </p:txBody>
      </p:sp>
      <p:sp>
        <p:nvSpPr>
          <p:cNvPr name="TextBox 33" id="33"/>
          <p:cNvSpPr txBox="true"/>
          <p:nvPr/>
        </p:nvSpPr>
        <p:spPr>
          <a:xfrm rot="0">
            <a:off x="503025" y="3167022"/>
            <a:ext cx="6135648" cy="902714"/>
          </a:xfrm>
          <a:prstGeom prst="rect">
            <a:avLst/>
          </a:prstGeom>
        </p:spPr>
        <p:txBody>
          <a:bodyPr anchor="t" rtlCol="false" tIns="0" lIns="0" bIns="0" rIns="0">
            <a:spAutoFit/>
          </a:bodyPr>
          <a:lstStyle/>
          <a:p>
            <a:pPr algn="l">
              <a:lnSpc>
                <a:spcPts val="7469"/>
              </a:lnSpc>
            </a:pPr>
            <a:r>
              <a:rPr lang="en-US" sz="5335" b="true">
                <a:solidFill>
                  <a:srgbClr val="047650"/>
                </a:solidFill>
                <a:latin typeface="Garet Bold"/>
                <a:ea typeface="Garet Bold"/>
                <a:cs typeface="Garet Bold"/>
                <a:sym typeface="Garet Bold"/>
              </a:rPr>
              <a:t>CO2 EMISSIONS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10987890" y="4901893"/>
            <a:ext cx="10591742" cy="1317596"/>
          </a:xfrm>
          <a:custGeom>
            <a:avLst/>
            <a:gdLst/>
            <a:ahLst/>
            <a:cxnLst/>
            <a:rect r="r" b="b" t="t" l="l"/>
            <a:pathLst>
              <a:path h="1317596" w="10591742">
                <a:moveTo>
                  <a:pt x="0" y="0"/>
                </a:moveTo>
                <a:lnTo>
                  <a:pt x="10591742" y="0"/>
                </a:lnTo>
                <a:lnTo>
                  <a:pt x="10591742" y="1317595"/>
                </a:lnTo>
                <a:lnTo>
                  <a:pt x="0" y="1317595"/>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2700000">
            <a:off x="12573136" y="-126215"/>
            <a:ext cx="5864972" cy="1317596"/>
          </a:xfrm>
          <a:custGeom>
            <a:avLst/>
            <a:gdLst/>
            <a:ahLst/>
            <a:cxnLst/>
            <a:rect r="r" b="b" t="t" l="l"/>
            <a:pathLst>
              <a:path h="1317596" w="5864972">
                <a:moveTo>
                  <a:pt x="0" y="0"/>
                </a:moveTo>
                <a:lnTo>
                  <a:pt x="5864972" y="0"/>
                </a:lnTo>
                <a:lnTo>
                  <a:pt x="5864972" y="1317596"/>
                </a:lnTo>
                <a:lnTo>
                  <a:pt x="0" y="1317596"/>
                </a:lnTo>
                <a:lnTo>
                  <a:pt x="0" y="0"/>
                </a:lnTo>
                <a:close/>
              </a:path>
            </a:pathLst>
          </a:custGeom>
          <a:blipFill>
            <a:blip r:embed="rId2">
              <a:alphaModFix amt="19999"/>
            </a:blip>
            <a:stretch>
              <a:fillRect l="0" t="-7391" r="-47734" b="-7391"/>
            </a:stretch>
          </a:blipFill>
        </p:spPr>
      </p:sp>
      <p:grpSp>
        <p:nvGrpSpPr>
          <p:cNvPr name="Group 4" id="4"/>
          <p:cNvGrpSpPr/>
          <p:nvPr/>
        </p:nvGrpSpPr>
        <p:grpSpPr>
          <a:xfrm rot="0">
            <a:off x="-880949" y="2153970"/>
            <a:ext cx="19585289" cy="8068488"/>
            <a:chOff x="0" y="0"/>
            <a:chExt cx="5158265" cy="2125034"/>
          </a:xfrm>
        </p:grpSpPr>
        <p:sp>
          <p:nvSpPr>
            <p:cNvPr name="Freeform 5" id="5"/>
            <p:cNvSpPr/>
            <p:nvPr/>
          </p:nvSpPr>
          <p:spPr>
            <a:xfrm flipH="false" flipV="false" rot="0">
              <a:off x="0" y="0"/>
              <a:ext cx="5158265" cy="2125034"/>
            </a:xfrm>
            <a:custGeom>
              <a:avLst/>
              <a:gdLst/>
              <a:ahLst/>
              <a:cxnLst/>
              <a:rect r="r" b="b" t="t" l="l"/>
              <a:pathLst>
                <a:path h="2125034" w="5158265">
                  <a:moveTo>
                    <a:pt x="0" y="0"/>
                  </a:moveTo>
                  <a:lnTo>
                    <a:pt x="5158265" y="0"/>
                  </a:lnTo>
                  <a:lnTo>
                    <a:pt x="5158265" y="2125034"/>
                  </a:lnTo>
                  <a:lnTo>
                    <a:pt x="0" y="2125034"/>
                  </a:lnTo>
                  <a:close/>
                </a:path>
              </a:pathLst>
            </a:custGeom>
            <a:solidFill>
              <a:srgbClr val="047650"/>
            </a:solidFill>
          </p:spPr>
        </p:sp>
        <p:sp>
          <p:nvSpPr>
            <p:cNvPr name="TextBox 6" id="6"/>
            <p:cNvSpPr txBox="true"/>
            <p:nvPr/>
          </p:nvSpPr>
          <p:spPr>
            <a:xfrm>
              <a:off x="0" y="-38100"/>
              <a:ext cx="5158265" cy="2163134"/>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7789576" y="4595849"/>
            <a:ext cx="2554388"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DAVID CLEMENT</a:t>
            </a:r>
          </a:p>
        </p:txBody>
      </p:sp>
      <p:grpSp>
        <p:nvGrpSpPr>
          <p:cNvPr name="Group 8" id="8"/>
          <p:cNvGrpSpPr/>
          <p:nvPr/>
        </p:nvGrpSpPr>
        <p:grpSpPr>
          <a:xfrm rot="0">
            <a:off x="440169" y="6138701"/>
            <a:ext cx="3047138" cy="3047138"/>
            <a:chOff x="0" y="0"/>
            <a:chExt cx="812800" cy="812800"/>
          </a:xfrm>
        </p:grpSpPr>
        <p:sp>
          <p:nvSpPr>
            <p:cNvPr name="Freeform 9" id="9"/>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10" id="10"/>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11" id="11"/>
          <p:cNvGrpSpPr/>
          <p:nvPr/>
        </p:nvGrpSpPr>
        <p:grpSpPr>
          <a:xfrm rot="0">
            <a:off x="5475424" y="2379370"/>
            <a:ext cx="3047138" cy="3047138"/>
            <a:chOff x="0" y="0"/>
            <a:chExt cx="812800" cy="812800"/>
          </a:xfrm>
        </p:grpSpPr>
        <p:sp>
          <p:nvSpPr>
            <p:cNvPr name="Freeform 12" id="12"/>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13" id="13"/>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14" id="14"/>
          <p:cNvGrpSpPr/>
          <p:nvPr/>
        </p:nvGrpSpPr>
        <p:grpSpPr>
          <a:xfrm rot="0">
            <a:off x="5637349" y="2530780"/>
            <a:ext cx="2744316" cy="2744316"/>
            <a:chOff x="0" y="0"/>
            <a:chExt cx="812800" cy="812800"/>
          </a:xfrm>
        </p:grpSpPr>
        <p:sp>
          <p:nvSpPr>
            <p:cNvPr name="Freeform 15" id="15"/>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3"/>
              <a:stretch>
                <a:fillRect l="0" t="0" r="0" b="-25000"/>
              </a:stretch>
            </a:blipFill>
          </p:spPr>
        </p:sp>
      </p:grpSp>
      <p:grpSp>
        <p:nvGrpSpPr>
          <p:cNvPr name="Group 16" id="16"/>
          <p:cNvGrpSpPr/>
          <p:nvPr/>
        </p:nvGrpSpPr>
        <p:grpSpPr>
          <a:xfrm rot="0">
            <a:off x="5637349" y="6032125"/>
            <a:ext cx="3047138" cy="3047138"/>
            <a:chOff x="0" y="0"/>
            <a:chExt cx="812800" cy="812800"/>
          </a:xfrm>
        </p:grpSpPr>
        <p:sp>
          <p:nvSpPr>
            <p:cNvPr name="Freeform 17" id="17"/>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18" id="18"/>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19" id="19"/>
          <p:cNvGrpSpPr/>
          <p:nvPr/>
        </p:nvGrpSpPr>
        <p:grpSpPr>
          <a:xfrm rot="0">
            <a:off x="5778246" y="6188214"/>
            <a:ext cx="2744316" cy="2744316"/>
            <a:chOff x="0" y="0"/>
            <a:chExt cx="812800" cy="812800"/>
          </a:xfrm>
        </p:grpSpPr>
        <p:sp>
          <p:nvSpPr>
            <p:cNvPr name="Freeform 20" id="20"/>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4"/>
              <a:stretch>
                <a:fillRect l="-31286" t="0" r="-18807" b="0"/>
              </a:stretch>
            </a:blipFill>
          </p:spPr>
        </p:sp>
      </p:grpSp>
      <p:grpSp>
        <p:nvGrpSpPr>
          <p:cNvPr name="Group 21" id="21"/>
          <p:cNvGrpSpPr/>
          <p:nvPr/>
        </p:nvGrpSpPr>
        <p:grpSpPr>
          <a:xfrm rot="0">
            <a:off x="10343965" y="2227959"/>
            <a:ext cx="3047138" cy="3047138"/>
            <a:chOff x="0" y="0"/>
            <a:chExt cx="812800" cy="812800"/>
          </a:xfrm>
        </p:grpSpPr>
        <p:sp>
          <p:nvSpPr>
            <p:cNvPr name="Freeform 22" id="22"/>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23" id="23"/>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24" id="24"/>
          <p:cNvGrpSpPr/>
          <p:nvPr/>
        </p:nvGrpSpPr>
        <p:grpSpPr>
          <a:xfrm rot="0">
            <a:off x="10495375" y="2379370"/>
            <a:ext cx="2744316" cy="2744316"/>
            <a:chOff x="0" y="0"/>
            <a:chExt cx="812800" cy="812800"/>
          </a:xfrm>
        </p:grpSpPr>
        <p:sp>
          <p:nvSpPr>
            <p:cNvPr name="Freeform 25" id="25"/>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5"/>
              <a:stretch>
                <a:fillRect l="0" t="-16055" r="0" b="-19620"/>
              </a:stretch>
            </a:blipFill>
          </p:spPr>
        </p:sp>
      </p:grpSp>
      <p:grpSp>
        <p:nvGrpSpPr>
          <p:cNvPr name="Group 26" id="26"/>
          <p:cNvGrpSpPr/>
          <p:nvPr/>
        </p:nvGrpSpPr>
        <p:grpSpPr>
          <a:xfrm rot="0">
            <a:off x="10343965" y="5979947"/>
            <a:ext cx="3047138" cy="3047138"/>
            <a:chOff x="0" y="0"/>
            <a:chExt cx="812800" cy="812800"/>
          </a:xfrm>
        </p:grpSpPr>
        <p:sp>
          <p:nvSpPr>
            <p:cNvPr name="Freeform 27" id="27"/>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28" id="28"/>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29" id="29"/>
          <p:cNvGrpSpPr/>
          <p:nvPr/>
        </p:nvGrpSpPr>
        <p:grpSpPr>
          <a:xfrm rot="0">
            <a:off x="10495375" y="6138701"/>
            <a:ext cx="2744316" cy="2744316"/>
            <a:chOff x="0" y="0"/>
            <a:chExt cx="812800" cy="812800"/>
          </a:xfrm>
        </p:grpSpPr>
        <p:sp>
          <p:nvSpPr>
            <p:cNvPr name="Freeform 30" id="30"/>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6"/>
              <a:stretch>
                <a:fillRect l="-24958" t="-8022" r="-25850" b="-93055"/>
              </a:stretch>
            </a:blipFill>
          </p:spPr>
        </p:sp>
      </p:grpSp>
      <p:sp>
        <p:nvSpPr>
          <p:cNvPr name="Freeform 31" id="31"/>
          <p:cNvSpPr/>
          <p:nvPr/>
        </p:nvSpPr>
        <p:spPr>
          <a:xfrm flipH="false" flipV="false" rot="-8100000">
            <a:off x="16512926" y="5850556"/>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7"/>
            <a:stretch>
              <a:fillRect l="-105286" t="0" r="-14595" b="0"/>
            </a:stretch>
          </a:blipFill>
        </p:spPr>
      </p:sp>
      <p:grpSp>
        <p:nvGrpSpPr>
          <p:cNvPr name="Group 32" id="32"/>
          <p:cNvGrpSpPr/>
          <p:nvPr/>
        </p:nvGrpSpPr>
        <p:grpSpPr>
          <a:xfrm rot="2518158">
            <a:off x="16000832" y="7282393"/>
            <a:ext cx="2182873" cy="5306652"/>
            <a:chOff x="0" y="0"/>
            <a:chExt cx="1622238" cy="3943726"/>
          </a:xfrm>
        </p:grpSpPr>
        <p:sp>
          <p:nvSpPr>
            <p:cNvPr name="Freeform 33" id="3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34" id="3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35" id="35"/>
          <p:cNvSpPr/>
          <p:nvPr/>
        </p:nvSpPr>
        <p:spPr>
          <a:xfrm flipH="false" flipV="false" rot="-2700000">
            <a:off x="15965934" y="9622592"/>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2">
              <a:alphaModFix amt="27000"/>
            </a:blip>
            <a:stretch>
              <a:fillRect l="-22095" t="0" r="-3456" b="0"/>
            </a:stretch>
          </a:blipFill>
        </p:spPr>
      </p:sp>
      <p:grpSp>
        <p:nvGrpSpPr>
          <p:cNvPr name="Group 36" id="36"/>
          <p:cNvGrpSpPr/>
          <p:nvPr/>
        </p:nvGrpSpPr>
        <p:grpSpPr>
          <a:xfrm rot="2518158">
            <a:off x="17189457" y="8219467"/>
            <a:ext cx="1711172" cy="4159929"/>
            <a:chOff x="0" y="0"/>
            <a:chExt cx="1622238" cy="3943726"/>
          </a:xfrm>
        </p:grpSpPr>
        <p:sp>
          <p:nvSpPr>
            <p:cNvPr name="Freeform 37" id="3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38" id="3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39" id="39"/>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7"/>
            <a:stretch>
              <a:fillRect l="-105286" t="0" r="-14595" b="0"/>
            </a:stretch>
          </a:blipFill>
        </p:spPr>
      </p:sp>
      <p:grpSp>
        <p:nvGrpSpPr>
          <p:cNvPr name="Group 40" id="40"/>
          <p:cNvGrpSpPr/>
          <p:nvPr/>
        </p:nvGrpSpPr>
        <p:grpSpPr>
          <a:xfrm rot="7918158">
            <a:off x="-136144" y="6856153"/>
            <a:ext cx="2182873" cy="5306652"/>
            <a:chOff x="0" y="0"/>
            <a:chExt cx="1622238" cy="3943726"/>
          </a:xfrm>
        </p:grpSpPr>
        <p:sp>
          <p:nvSpPr>
            <p:cNvPr name="Freeform 41" id="41"/>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42" id="42"/>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43" id="43"/>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2">
              <a:alphaModFix amt="27000"/>
            </a:blip>
            <a:stretch>
              <a:fillRect l="-22095" t="0" r="-3456" b="0"/>
            </a:stretch>
          </a:blipFill>
        </p:spPr>
      </p:sp>
      <p:grpSp>
        <p:nvGrpSpPr>
          <p:cNvPr name="Group 44" id="44"/>
          <p:cNvGrpSpPr/>
          <p:nvPr/>
        </p:nvGrpSpPr>
        <p:grpSpPr>
          <a:xfrm rot="7918158">
            <a:off x="-264006" y="8382289"/>
            <a:ext cx="1711172" cy="4159929"/>
            <a:chOff x="0" y="0"/>
            <a:chExt cx="1622238" cy="3943726"/>
          </a:xfrm>
        </p:grpSpPr>
        <p:sp>
          <p:nvSpPr>
            <p:cNvPr name="Freeform 45" id="4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46" id="4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grpSp>
        <p:nvGrpSpPr>
          <p:cNvPr name="Group 47" id="47"/>
          <p:cNvGrpSpPr/>
          <p:nvPr/>
        </p:nvGrpSpPr>
        <p:grpSpPr>
          <a:xfrm rot="0">
            <a:off x="14038167" y="-3879977"/>
            <a:ext cx="12067893" cy="12067893"/>
            <a:chOff x="0" y="0"/>
            <a:chExt cx="812800" cy="812800"/>
          </a:xfrm>
        </p:grpSpPr>
        <p:sp>
          <p:nvSpPr>
            <p:cNvPr name="Freeform 48" id="48"/>
            <p:cNvSpPr/>
            <p:nvPr/>
          </p:nvSpPr>
          <p:spPr>
            <a:xfrm flipH="false" flipV="false" rot="0">
              <a:off x="14881" y="14881"/>
              <a:ext cx="783038" cy="783038"/>
            </a:xfrm>
            <a:custGeom>
              <a:avLst/>
              <a:gdLst/>
              <a:ahLst/>
              <a:cxnLst/>
              <a:rect r="r" b="b" t="t" l="l"/>
              <a:pathLst>
                <a:path h="783038" w="783038">
                  <a:moveTo>
                    <a:pt x="416922" y="10522"/>
                  </a:moveTo>
                  <a:lnTo>
                    <a:pt x="772516" y="366116"/>
                  </a:lnTo>
                  <a:cubicBezTo>
                    <a:pt x="779253" y="372853"/>
                    <a:pt x="783038" y="381991"/>
                    <a:pt x="783038" y="391519"/>
                  </a:cubicBezTo>
                  <a:cubicBezTo>
                    <a:pt x="783038" y="401047"/>
                    <a:pt x="779253" y="410185"/>
                    <a:pt x="772516" y="416922"/>
                  </a:cubicBezTo>
                  <a:lnTo>
                    <a:pt x="416922" y="772516"/>
                  </a:lnTo>
                  <a:cubicBezTo>
                    <a:pt x="410185" y="779253"/>
                    <a:pt x="401047" y="783038"/>
                    <a:pt x="391519" y="783038"/>
                  </a:cubicBezTo>
                  <a:cubicBezTo>
                    <a:pt x="381991" y="783038"/>
                    <a:pt x="372853" y="779253"/>
                    <a:pt x="366116" y="772516"/>
                  </a:cubicBezTo>
                  <a:lnTo>
                    <a:pt x="10522" y="416922"/>
                  </a:lnTo>
                  <a:cubicBezTo>
                    <a:pt x="3785" y="410185"/>
                    <a:pt x="0" y="401047"/>
                    <a:pt x="0" y="391519"/>
                  </a:cubicBezTo>
                  <a:cubicBezTo>
                    <a:pt x="0" y="381991"/>
                    <a:pt x="3785" y="372853"/>
                    <a:pt x="10522" y="366116"/>
                  </a:cubicBezTo>
                  <a:lnTo>
                    <a:pt x="366116" y="10522"/>
                  </a:lnTo>
                  <a:cubicBezTo>
                    <a:pt x="372853" y="3785"/>
                    <a:pt x="381991" y="0"/>
                    <a:pt x="391519" y="0"/>
                  </a:cubicBezTo>
                  <a:cubicBezTo>
                    <a:pt x="401047" y="0"/>
                    <a:pt x="410185" y="3785"/>
                    <a:pt x="416922" y="10522"/>
                  </a:cubicBezTo>
                  <a:close/>
                </a:path>
              </a:pathLst>
            </a:custGeom>
            <a:solidFill>
              <a:srgbClr val="FFFFFF"/>
            </a:solidFill>
          </p:spPr>
        </p:sp>
        <p:sp>
          <p:nvSpPr>
            <p:cNvPr name="TextBox 49" id="49"/>
            <p:cNvSpPr txBox="true"/>
            <p:nvPr/>
          </p:nvSpPr>
          <p:spPr>
            <a:xfrm>
              <a:off x="139700" y="101600"/>
              <a:ext cx="533400" cy="571500"/>
            </a:xfrm>
            <a:prstGeom prst="rect">
              <a:avLst/>
            </a:prstGeom>
          </p:spPr>
          <p:txBody>
            <a:bodyPr anchor="ctr" rtlCol="false" tIns="55757" lIns="55757" bIns="55757" rIns="55757"/>
            <a:lstStyle/>
            <a:p>
              <a:pPr algn="ctr">
                <a:lnSpc>
                  <a:spcPts val="3359"/>
                </a:lnSpc>
              </a:pPr>
            </a:p>
          </p:txBody>
        </p:sp>
      </p:grpSp>
      <p:grpSp>
        <p:nvGrpSpPr>
          <p:cNvPr name="Group 50" id="50"/>
          <p:cNvGrpSpPr/>
          <p:nvPr/>
        </p:nvGrpSpPr>
        <p:grpSpPr>
          <a:xfrm rot="0">
            <a:off x="591580" y="6290112"/>
            <a:ext cx="2744316" cy="2744316"/>
            <a:chOff x="0" y="0"/>
            <a:chExt cx="812800" cy="812800"/>
          </a:xfrm>
        </p:grpSpPr>
        <p:sp>
          <p:nvSpPr>
            <p:cNvPr name="Freeform 51" id="51"/>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8"/>
              <a:stretch>
                <a:fillRect l="0" t="-33228" r="0" b="-83145"/>
              </a:stretch>
            </a:blipFill>
          </p:spPr>
        </p:sp>
      </p:grpSp>
      <p:grpSp>
        <p:nvGrpSpPr>
          <p:cNvPr name="Group 52" id="52"/>
          <p:cNvGrpSpPr/>
          <p:nvPr/>
        </p:nvGrpSpPr>
        <p:grpSpPr>
          <a:xfrm rot="0">
            <a:off x="133192" y="2096362"/>
            <a:ext cx="3047138" cy="3047138"/>
            <a:chOff x="0" y="0"/>
            <a:chExt cx="812800" cy="812800"/>
          </a:xfrm>
        </p:grpSpPr>
        <p:sp>
          <p:nvSpPr>
            <p:cNvPr name="Freeform 53" id="53"/>
            <p:cNvSpPr/>
            <p:nvPr/>
          </p:nvSpPr>
          <p:spPr>
            <a:xfrm flipH="false" flipV="false" rot="0">
              <a:off x="42096" y="42096"/>
              <a:ext cx="728608" cy="728608"/>
            </a:xfrm>
            <a:custGeom>
              <a:avLst/>
              <a:gdLst/>
              <a:ahLst/>
              <a:cxnLst/>
              <a:rect r="r" b="b" t="t" l="l"/>
              <a:pathLst>
                <a:path h="728608" w="728608">
                  <a:moveTo>
                    <a:pt x="436166" y="29766"/>
                  </a:moveTo>
                  <a:lnTo>
                    <a:pt x="698842" y="292442"/>
                  </a:lnTo>
                  <a:cubicBezTo>
                    <a:pt x="738530" y="332130"/>
                    <a:pt x="738530" y="396478"/>
                    <a:pt x="698842" y="436166"/>
                  </a:cubicBezTo>
                  <a:lnTo>
                    <a:pt x="436166" y="698842"/>
                  </a:lnTo>
                  <a:cubicBezTo>
                    <a:pt x="396478" y="738530"/>
                    <a:pt x="332130" y="738530"/>
                    <a:pt x="292442" y="698842"/>
                  </a:cubicBezTo>
                  <a:lnTo>
                    <a:pt x="29766" y="436166"/>
                  </a:lnTo>
                  <a:cubicBezTo>
                    <a:pt x="-9922" y="396478"/>
                    <a:pt x="-9922" y="332130"/>
                    <a:pt x="29766" y="292442"/>
                  </a:cubicBezTo>
                  <a:lnTo>
                    <a:pt x="292442" y="29766"/>
                  </a:lnTo>
                  <a:cubicBezTo>
                    <a:pt x="332130" y="-9922"/>
                    <a:pt x="396478" y="-9922"/>
                    <a:pt x="436166" y="29766"/>
                  </a:cubicBezTo>
                  <a:close/>
                </a:path>
              </a:pathLst>
            </a:custGeom>
            <a:solidFill>
              <a:srgbClr val="FFFFFF"/>
            </a:solidFill>
          </p:spPr>
        </p:sp>
        <p:sp>
          <p:nvSpPr>
            <p:cNvPr name="TextBox 54" id="54"/>
            <p:cNvSpPr txBox="true"/>
            <p:nvPr/>
          </p:nvSpPr>
          <p:spPr>
            <a:xfrm>
              <a:off x="139700" y="101600"/>
              <a:ext cx="533400" cy="571500"/>
            </a:xfrm>
            <a:prstGeom prst="rect">
              <a:avLst/>
            </a:prstGeom>
          </p:spPr>
          <p:txBody>
            <a:bodyPr anchor="ctr" rtlCol="false" tIns="12476" lIns="12476" bIns="12476" rIns="12476"/>
            <a:lstStyle/>
            <a:p>
              <a:pPr algn="ctr">
                <a:lnSpc>
                  <a:spcPts val="3359"/>
                </a:lnSpc>
              </a:pPr>
            </a:p>
          </p:txBody>
        </p:sp>
      </p:grpSp>
      <p:grpSp>
        <p:nvGrpSpPr>
          <p:cNvPr name="Group 55" id="55"/>
          <p:cNvGrpSpPr/>
          <p:nvPr/>
        </p:nvGrpSpPr>
        <p:grpSpPr>
          <a:xfrm rot="0">
            <a:off x="284603" y="2247773"/>
            <a:ext cx="2744316" cy="2744316"/>
            <a:chOff x="0" y="0"/>
            <a:chExt cx="812800" cy="812800"/>
          </a:xfrm>
        </p:grpSpPr>
        <p:sp>
          <p:nvSpPr>
            <p:cNvPr name="Freeform 56" id="56"/>
            <p:cNvSpPr/>
            <p:nvPr/>
          </p:nvSpPr>
          <p:spPr>
            <a:xfrm flipH="false" flipV="false" rot="0">
              <a:off x="35056" y="35056"/>
              <a:ext cx="742688" cy="742688"/>
            </a:xfrm>
            <a:custGeom>
              <a:avLst/>
              <a:gdLst/>
              <a:ahLst/>
              <a:cxnLst/>
              <a:rect r="r" b="b" t="t" l="l"/>
              <a:pathLst>
                <a:path h="742688" w="742688">
                  <a:moveTo>
                    <a:pt x="431188" y="24788"/>
                  </a:moveTo>
                  <a:lnTo>
                    <a:pt x="717900" y="311500"/>
                  </a:lnTo>
                  <a:cubicBezTo>
                    <a:pt x="750951" y="344551"/>
                    <a:pt x="750951" y="398137"/>
                    <a:pt x="717900" y="431188"/>
                  </a:cubicBezTo>
                  <a:lnTo>
                    <a:pt x="431188" y="717900"/>
                  </a:lnTo>
                  <a:cubicBezTo>
                    <a:pt x="398137" y="750951"/>
                    <a:pt x="344551" y="750951"/>
                    <a:pt x="311500" y="717900"/>
                  </a:cubicBezTo>
                  <a:lnTo>
                    <a:pt x="24788" y="431188"/>
                  </a:lnTo>
                  <a:cubicBezTo>
                    <a:pt x="-8263" y="398137"/>
                    <a:pt x="-8263" y="344551"/>
                    <a:pt x="24788" y="311500"/>
                  </a:cubicBezTo>
                  <a:lnTo>
                    <a:pt x="311500" y="24788"/>
                  </a:lnTo>
                  <a:cubicBezTo>
                    <a:pt x="344551" y="-8263"/>
                    <a:pt x="398137" y="-8263"/>
                    <a:pt x="431188" y="24788"/>
                  </a:cubicBezTo>
                  <a:close/>
                </a:path>
              </a:pathLst>
            </a:custGeom>
            <a:blipFill>
              <a:blip r:embed="rId9"/>
              <a:stretch>
                <a:fillRect l="-274" t="0" r="-274" b="0"/>
              </a:stretch>
            </a:blipFill>
          </p:spPr>
        </p:sp>
      </p:grpSp>
      <p:sp>
        <p:nvSpPr>
          <p:cNvPr name="TextBox 57" id="57"/>
          <p:cNvSpPr txBox="true"/>
          <p:nvPr/>
        </p:nvSpPr>
        <p:spPr>
          <a:xfrm rot="0">
            <a:off x="12650571" y="8307708"/>
            <a:ext cx="4608729"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DARREL GEORGE LUBULELA</a:t>
            </a:r>
          </a:p>
        </p:txBody>
      </p:sp>
      <p:sp>
        <p:nvSpPr>
          <p:cNvPr name="TextBox 58" id="58"/>
          <p:cNvSpPr txBox="true"/>
          <p:nvPr/>
        </p:nvSpPr>
        <p:spPr>
          <a:xfrm rot="0">
            <a:off x="12791890" y="4595849"/>
            <a:ext cx="3047138"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ANGELLA WAMBUI</a:t>
            </a:r>
          </a:p>
        </p:txBody>
      </p:sp>
      <p:sp>
        <p:nvSpPr>
          <p:cNvPr name="TextBox 59" id="59"/>
          <p:cNvSpPr txBox="true"/>
          <p:nvPr/>
        </p:nvSpPr>
        <p:spPr>
          <a:xfrm rot="0">
            <a:off x="591580" y="618308"/>
            <a:ext cx="11124543" cy="1057279"/>
          </a:xfrm>
          <a:prstGeom prst="rect">
            <a:avLst/>
          </a:prstGeom>
        </p:spPr>
        <p:txBody>
          <a:bodyPr anchor="t" rtlCol="false" tIns="0" lIns="0" bIns="0" rIns="0">
            <a:spAutoFit/>
          </a:bodyPr>
          <a:lstStyle/>
          <a:p>
            <a:pPr algn="l">
              <a:lnSpc>
                <a:spcPts val="8175"/>
              </a:lnSpc>
            </a:pPr>
            <a:r>
              <a:rPr lang="en-US" sz="7500" b="true">
                <a:solidFill>
                  <a:srgbClr val="047650"/>
                </a:solidFill>
                <a:latin typeface="Garet Bold"/>
                <a:ea typeface="Garet Bold"/>
                <a:cs typeface="Garet Bold"/>
                <a:sym typeface="Garet Bold"/>
              </a:rPr>
              <a:t> OUR TEAM</a:t>
            </a:r>
          </a:p>
        </p:txBody>
      </p:sp>
      <p:sp>
        <p:nvSpPr>
          <p:cNvPr name="TextBox 60" id="60"/>
          <p:cNvSpPr txBox="true"/>
          <p:nvPr/>
        </p:nvSpPr>
        <p:spPr>
          <a:xfrm rot="0">
            <a:off x="7517446" y="8397083"/>
            <a:ext cx="2849882"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FAITH NJERI</a:t>
            </a:r>
          </a:p>
        </p:txBody>
      </p:sp>
      <p:sp>
        <p:nvSpPr>
          <p:cNvPr name="TextBox 61" id="61"/>
          <p:cNvSpPr txBox="true"/>
          <p:nvPr/>
        </p:nvSpPr>
        <p:spPr>
          <a:xfrm rot="0">
            <a:off x="2187064" y="8307708"/>
            <a:ext cx="3047138"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JOE NGUNO</a:t>
            </a:r>
          </a:p>
        </p:txBody>
      </p:sp>
      <p:sp>
        <p:nvSpPr>
          <p:cNvPr name="TextBox 62" id="62"/>
          <p:cNvSpPr txBox="true"/>
          <p:nvPr/>
        </p:nvSpPr>
        <p:spPr>
          <a:xfrm rot="0">
            <a:off x="2059787" y="4595849"/>
            <a:ext cx="3855211" cy="396240"/>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EMMANS CHEPCHIENG</a:t>
            </a:r>
          </a:p>
        </p:txBody>
      </p:sp>
      <p:sp>
        <p:nvSpPr>
          <p:cNvPr name="TextBox 63" id="63"/>
          <p:cNvSpPr txBox="true"/>
          <p:nvPr/>
        </p:nvSpPr>
        <p:spPr>
          <a:xfrm rot="0">
            <a:off x="2793027" y="5003598"/>
            <a:ext cx="2231172"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Scrum Master</a:t>
            </a:r>
          </a:p>
        </p:txBody>
      </p:sp>
      <p:sp>
        <p:nvSpPr>
          <p:cNvPr name="TextBox 64" id="64"/>
          <p:cNvSpPr txBox="true"/>
          <p:nvPr/>
        </p:nvSpPr>
        <p:spPr>
          <a:xfrm rot="0">
            <a:off x="13954297" y="8683023"/>
            <a:ext cx="1343263"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Member</a:t>
            </a:r>
          </a:p>
        </p:txBody>
      </p:sp>
      <p:sp>
        <p:nvSpPr>
          <p:cNvPr name="TextBox 65" id="65"/>
          <p:cNvSpPr txBox="true"/>
          <p:nvPr/>
        </p:nvSpPr>
        <p:spPr>
          <a:xfrm rot="0">
            <a:off x="8395139" y="8789599"/>
            <a:ext cx="1343263"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Member</a:t>
            </a:r>
          </a:p>
        </p:txBody>
      </p:sp>
      <p:sp>
        <p:nvSpPr>
          <p:cNvPr name="TextBox 66" id="66"/>
          <p:cNvSpPr txBox="true"/>
          <p:nvPr/>
        </p:nvSpPr>
        <p:spPr>
          <a:xfrm rot="0">
            <a:off x="13599164" y="5105400"/>
            <a:ext cx="1343263"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Member</a:t>
            </a:r>
          </a:p>
        </p:txBody>
      </p:sp>
      <p:sp>
        <p:nvSpPr>
          <p:cNvPr name="TextBox 67" id="67"/>
          <p:cNvSpPr txBox="true"/>
          <p:nvPr/>
        </p:nvSpPr>
        <p:spPr>
          <a:xfrm rot="0">
            <a:off x="8472368" y="5003598"/>
            <a:ext cx="1343263"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Member</a:t>
            </a:r>
          </a:p>
        </p:txBody>
      </p:sp>
      <p:sp>
        <p:nvSpPr>
          <p:cNvPr name="TextBox 68" id="68"/>
          <p:cNvSpPr txBox="true"/>
          <p:nvPr/>
        </p:nvSpPr>
        <p:spPr>
          <a:xfrm rot="0">
            <a:off x="2420280" y="8761098"/>
            <a:ext cx="2655451"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Garet Bold"/>
                <a:ea typeface="Garet Bold"/>
                <a:cs typeface="Garet Bold"/>
                <a:sym typeface="Garet Bold"/>
              </a:rPr>
              <a:t>Project Manager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2885057">
            <a:off x="1583405" y="720865"/>
            <a:ext cx="3456456" cy="13026877"/>
            <a:chOff x="0" y="0"/>
            <a:chExt cx="910342" cy="3430947"/>
          </a:xfrm>
        </p:grpSpPr>
        <p:sp>
          <p:nvSpPr>
            <p:cNvPr name="Freeform 3" id="3"/>
            <p:cNvSpPr/>
            <p:nvPr/>
          </p:nvSpPr>
          <p:spPr>
            <a:xfrm flipH="false" flipV="false" rot="0">
              <a:off x="0" y="0"/>
              <a:ext cx="910342" cy="3430947"/>
            </a:xfrm>
            <a:custGeom>
              <a:avLst/>
              <a:gdLst/>
              <a:ahLst/>
              <a:cxnLst/>
              <a:rect r="r" b="b" t="t" l="l"/>
              <a:pathLst>
                <a:path h="3430947" w="910342">
                  <a:moveTo>
                    <a:pt x="203200" y="0"/>
                  </a:moveTo>
                  <a:lnTo>
                    <a:pt x="910342" y="0"/>
                  </a:lnTo>
                  <a:lnTo>
                    <a:pt x="707142" y="3430947"/>
                  </a:lnTo>
                  <a:lnTo>
                    <a:pt x="0" y="3430947"/>
                  </a:lnTo>
                  <a:lnTo>
                    <a:pt x="203200" y="0"/>
                  </a:lnTo>
                  <a:close/>
                </a:path>
              </a:pathLst>
            </a:custGeom>
            <a:solidFill>
              <a:srgbClr val="047650"/>
            </a:solidFill>
          </p:spPr>
        </p:sp>
        <p:sp>
          <p:nvSpPr>
            <p:cNvPr name="TextBox 4" id="4"/>
            <p:cNvSpPr txBox="true"/>
            <p:nvPr/>
          </p:nvSpPr>
          <p:spPr>
            <a:xfrm>
              <a:off x="101600" y="-38100"/>
              <a:ext cx="707142" cy="3469047"/>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8017540">
            <a:off x="-226879" y="2629666"/>
            <a:ext cx="4184293" cy="10743939"/>
            <a:chOff x="0" y="0"/>
            <a:chExt cx="1622238" cy="4165393"/>
          </a:xfrm>
        </p:grpSpPr>
        <p:sp>
          <p:nvSpPr>
            <p:cNvPr name="Freeform 6" id="6"/>
            <p:cNvSpPr/>
            <p:nvPr/>
          </p:nvSpPr>
          <p:spPr>
            <a:xfrm flipH="false" flipV="false" rot="0">
              <a:off x="0" y="0"/>
              <a:ext cx="1622238" cy="4165393"/>
            </a:xfrm>
            <a:custGeom>
              <a:avLst/>
              <a:gdLst/>
              <a:ahLst/>
              <a:cxnLst/>
              <a:rect r="r" b="b" t="t" l="l"/>
              <a:pathLst>
                <a:path h="4165393" w="1622238">
                  <a:moveTo>
                    <a:pt x="203200" y="0"/>
                  </a:moveTo>
                  <a:lnTo>
                    <a:pt x="1622238" y="0"/>
                  </a:lnTo>
                  <a:lnTo>
                    <a:pt x="1419038" y="4165393"/>
                  </a:lnTo>
                  <a:lnTo>
                    <a:pt x="0" y="4165393"/>
                  </a:lnTo>
                  <a:lnTo>
                    <a:pt x="203200" y="0"/>
                  </a:lnTo>
                  <a:close/>
                </a:path>
              </a:pathLst>
            </a:custGeom>
            <a:solidFill>
              <a:srgbClr val="049464"/>
            </a:solidFill>
          </p:spPr>
        </p:sp>
        <p:sp>
          <p:nvSpPr>
            <p:cNvPr name="TextBox 7" id="7"/>
            <p:cNvSpPr txBox="true"/>
            <p:nvPr/>
          </p:nvSpPr>
          <p:spPr>
            <a:xfrm>
              <a:off x="101600" y="-38100"/>
              <a:ext cx="1419038" cy="4203493"/>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2799382">
            <a:off x="3029016" y="8692881"/>
            <a:ext cx="5477894" cy="1200452"/>
          </a:xfrm>
          <a:custGeom>
            <a:avLst/>
            <a:gdLst/>
            <a:ahLst/>
            <a:cxnLst/>
            <a:rect r="r" b="b" t="t" l="l"/>
            <a:pathLst>
              <a:path h="1200452" w="5477894">
                <a:moveTo>
                  <a:pt x="0" y="0"/>
                </a:moveTo>
                <a:lnTo>
                  <a:pt x="5477893" y="0"/>
                </a:lnTo>
                <a:lnTo>
                  <a:pt x="5477893" y="1200452"/>
                </a:lnTo>
                <a:lnTo>
                  <a:pt x="0" y="1200452"/>
                </a:lnTo>
                <a:lnTo>
                  <a:pt x="0" y="0"/>
                </a:lnTo>
                <a:close/>
              </a:path>
            </a:pathLst>
          </a:custGeom>
          <a:blipFill>
            <a:blip r:embed="rId2">
              <a:alphaModFix amt="27000"/>
            </a:blip>
            <a:stretch>
              <a:fillRect l="-22095" t="0" r="-3456" b="0"/>
            </a:stretch>
          </a:blipFill>
        </p:spPr>
      </p:sp>
      <p:sp>
        <p:nvSpPr>
          <p:cNvPr name="Freeform 9" id="9"/>
          <p:cNvSpPr/>
          <p:nvPr/>
        </p:nvSpPr>
        <p:spPr>
          <a:xfrm flipH="false" flipV="false" rot="2660057">
            <a:off x="-2429201" y="8133341"/>
            <a:ext cx="7213276" cy="1200452"/>
          </a:xfrm>
          <a:custGeom>
            <a:avLst/>
            <a:gdLst/>
            <a:ahLst/>
            <a:cxnLst/>
            <a:rect r="r" b="b" t="t" l="l"/>
            <a:pathLst>
              <a:path h="1200452" w="7213276">
                <a:moveTo>
                  <a:pt x="0" y="0"/>
                </a:moveTo>
                <a:lnTo>
                  <a:pt x="7213276" y="0"/>
                </a:lnTo>
                <a:lnTo>
                  <a:pt x="7213276" y="1200452"/>
                </a:lnTo>
                <a:lnTo>
                  <a:pt x="0" y="1200452"/>
                </a:lnTo>
                <a:lnTo>
                  <a:pt x="0" y="0"/>
                </a:lnTo>
                <a:close/>
              </a:path>
            </a:pathLst>
          </a:custGeom>
          <a:blipFill>
            <a:blip r:embed="rId2">
              <a:alphaModFix amt="27000"/>
            </a:blip>
            <a:stretch>
              <a:fillRect l="0" t="-3924" r="-2830" b="-3924"/>
            </a:stretch>
          </a:blipFill>
        </p:spPr>
      </p:sp>
      <p:grpSp>
        <p:nvGrpSpPr>
          <p:cNvPr name="Group 10" id="10"/>
          <p:cNvGrpSpPr/>
          <p:nvPr/>
        </p:nvGrpSpPr>
        <p:grpSpPr>
          <a:xfrm rot="7929618">
            <a:off x="-1075674" y="6280342"/>
            <a:ext cx="3683145" cy="8550455"/>
            <a:chOff x="0" y="0"/>
            <a:chExt cx="1821570" cy="4228793"/>
          </a:xfrm>
        </p:grpSpPr>
        <p:sp>
          <p:nvSpPr>
            <p:cNvPr name="Freeform 11" id="11"/>
            <p:cNvSpPr/>
            <p:nvPr/>
          </p:nvSpPr>
          <p:spPr>
            <a:xfrm flipH="false" flipV="false" rot="0">
              <a:off x="0" y="0"/>
              <a:ext cx="1821570" cy="4228793"/>
            </a:xfrm>
            <a:custGeom>
              <a:avLst/>
              <a:gdLst/>
              <a:ahLst/>
              <a:cxnLst/>
              <a:rect r="r" b="b" t="t" l="l"/>
              <a:pathLst>
                <a:path h="4228793" w="1821570">
                  <a:moveTo>
                    <a:pt x="203200" y="0"/>
                  </a:moveTo>
                  <a:lnTo>
                    <a:pt x="1821570" y="0"/>
                  </a:lnTo>
                  <a:lnTo>
                    <a:pt x="1618370" y="4228793"/>
                  </a:lnTo>
                  <a:lnTo>
                    <a:pt x="0" y="4228793"/>
                  </a:lnTo>
                  <a:lnTo>
                    <a:pt x="203200" y="0"/>
                  </a:lnTo>
                  <a:close/>
                </a:path>
              </a:pathLst>
            </a:custGeom>
            <a:solidFill>
              <a:srgbClr val="00B176"/>
            </a:solidFill>
          </p:spPr>
        </p:sp>
        <p:sp>
          <p:nvSpPr>
            <p:cNvPr name="TextBox 12" id="12"/>
            <p:cNvSpPr txBox="true"/>
            <p:nvPr/>
          </p:nvSpPr>
          <p:spPr>
            <a:xfrm>
              <a:off x="101600" y="-38100"/>
              <a:ext cx="1618370" cy="4266893"/>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0">
            <a:off x="9935463" y="-46566"/>
            <a:ext cx="11660661" cy="11660661"/>
          </a:xfrm>
          <a:custGeom>
            <a:avLst/>
            <a:gdLst/>
            <a:ahLst/>
            <a:cxnLst/>
            <a:rect r="r" b="b" t="t" l="l"/>
            <a:pathLst>
              <a:path h="11660661" w="11660661">
                <a:moveTo>
                  <a:pt x="0" y="0"/>
                </a:moveTo>
                <a:lnTo>
                  <a:pt x="11660661" y="0"/>
                </a:lnTo>
                <a:lnTo>
                  <a:pt x="11660661" y="11660661"/>
                </a:lnTo>
                <a:lnTo>
                  <a:pt x="0" y="11660661"/>
                </a:lnTo>
                <a:lnTo>
                  <a:pt x="0" y="0"/>
                </a:lnTo>
                <a:close/>
              </a:path>
            </a:pathLst>
          </a:custGeom>
          <a:blipFill>
            <a:blip r:embed="rId3"/>
            <a:stretch>
              <a:fillRect l="0" t="0" r="0" b="0"/>
            </a:stretch>
          </a:blipFill>
        </p:spPr>
      </p:sp>
      <p:grpSp>
        <p:nvGrpSpPr>
          <p:cNvPr name="Group 14" id="14"/>
          <p:cNvGrpSpPr/>
          <p:nvPr/>
        </p:nvGrpSpPr>
        <p:grpSpPr>
          <a:xfrm rot="0">
            <a:off x="4383210" y="1028700"/>
            <a:ext cx="11104507" cy="15578312"/>
            <a:chOff x="0" y="0"/>
            <a:chExt cx="14806009" cy="20771083"/>
          </a:xfrm>
        </p:grpSpPr>
        <p:sp>
          <p:nvSpPr>
            <p:cNvPr name="TextBox 15" id="15"/>
            <p:cNvSpPr txBox="true"/>
            <p:nvPr/>
          </p:nvSpPr>
          <p:spPr>
            <a:xfrm rot="0">
              <a:off x="0" y="161925"/>
              <a:ext cx="14806009" cy="6601186"/>
            </a:xfrm>
            <a:prstGeom prst="rect">
              <a:avLst/>
            </a:prstGeom>
          </p:spPr>
          <p:txBody>
            <a:bodyPr anchor="t" rtlCol="false" tIns="0" lIns="0" bIns="0" rIns="0">
              <a:spAutoFit/>
            </a:bodyPr>
            <a:lstStyle/>
            <a:p>
              <a:pPr algn="l">
                <a:lnSpc>
                  <a:spcPts val="6376"/>
                </a:lnSpc>
              </a:pPr>
              <a:r>
                <a:rPr lang="en-US" b="true" sz="6712" spc="-335">
                  <a:solidFill>
                    <a:srgbClr val="000000"/>
                  </a:solidFill>
                  <a:latin typeface="League Spartan"/>
                  <a:ea typeface="League Spartan"/>
                  <a:cs typeface="League Spartan"/>
                  <a:sym typeface="League Spartan"/>
                </a:rPr>
                <a:t>Have you noticed how temperatures seem to be changing, and the seasons we once considered predictable no longer feel as predictable?</a:t>
              </a:r>
            </a:p>
          </p:txBody>
        </p:sp>
        <p:sp>
          <p:nvSpPr>
            <p:cNvPr name="TextBox 16" id="16"/>
            <p:cNvSpPr txBox="true"/>
            <p:nvPr/>
          </p:nvSpPr>
          <p:spPr>
            <a:xfrm rot="0">
              <a:off x="2688516" y="20338735"/>
              <a:ext cx="8696873" cy="432348"/>
            </a:xfrm>
            <a:prstGeom prst="rect">
              <a:avLst/>
            </a:prstGeom>
          </p:spPr>
          <p:txBody>
            <a:bodyPr anchor="t" rtlCol="false" tIns="0" lIns="0" bIns="0" rIns="0">
              <a:spAutoFit/>
            </a:bodyPr>
            <a:lstStyle/>
            <a:p>
              <a:pPr algn="l">
                <a:lnSpc>
                  <a:spcPts val="2665"/>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0">
            <a:off x="-588708" y="-8259"/>
            <a:ext cx="19585289" cy="1693482"/>
            <a:chOff x="0" y="0"/>
            <a:chExt cx="5158265" cy="446020"/>
          </a:xfrm>
        </p:grpSpPr>
        <p:sp>
          <p:nvSpPr>
            <p:cNvPr name="Freeform 3" id="3"/>
            <p:cNvSpPr/>
            <p:nvPr/>
          </p:nvSpPr>
          <p:spPr>
            <a:xfrm flipH="false" flipV="false" rot="0">
              <a:off x="0" y="0"/>
              <a:ext cx="5158265" cy="446020"/>
            </a:xfrm>
            <a:custGeom>
              <a:avLst/>
              <a:gdLst/>
              <a:ahLst/>
              <a:cxnLst/>
              <a:rect r="r" b="b" t="t" l="l"/>
              <a:pathLst>
                <a:path h="446020" w="5158265">
                  <a:moveTo>
                    <a:pt x="0" y="0"/>
                  </a:moveTo>
                  <a:lnTo>
                    <a:pt x="5158265" y="0"/>
                  </a:lnTo>
                  <a:lnTo>
                    <a:pt x="5158265" y="446020"/>
                  </a:lnTo>
                  <a:lnTo>
                    <a:pt x="0" y="446020"/>
                  </a:lnTo>
                  <a:close/>
                </a:path>
              </a:pathLst>
            </a:custGeom>
            <a:solidFill>
              <a:srgbClr val="047650"/>
            </a:solidFill>
          </p:spPr>
        </p:sp>
        <p:sp>
          <p:nvSpPr>
            <p:cNvPr name="TextBox 4" id="4"/>
            <p:cNvSpPr txBox="true"/>
            <p:nvPr/>
          </p:nvSpPr>
          <p:spPr>
            <a:xfrm>
              <a:off x="0" y="-38100"/>
              <a:ext cx="5158265" cy="484120"/>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2700000">
            <a:off x="-2313141" y="4151763"/>
            <a:ext cx="9650065" cy="1200452"/>
          </a:xfrm>
          <a:custGeom>
            <a:avLst/>
            <a:gdLst/>
            <a:ahLst/>
            <a:cxnLst/>
            <a:rect r="r" b="b" t="t" l="l"/>
            <a:pathLst>
              <a:path h="1200452" w="9650065">
                <a:moveTo>
                  <a:pt x="0" y="0"/>
                </a:moveTo>
                <a:lnTo>
                  <a:pt x="9650065" y="0"/>
                </a:lnTo>
                <a:lnTo>
                  <a:pt x="9650065" y="1200453"/>
                </a:lnTo>
                <a:lnTo>
                  <a:pt x="0" y="1200453"/>
                </a:lnTo>
                <a:lnTo>
                  <a:pt x="0" y="0"/>
                </a:lnTo>
                <a:close/>
              </a:path>
            </a:pathLst>
          </a:custGeom>
          <a:blipFill>
            <a:blip r:embed="rId2">
              <a:alphaModFix amt="13000"/>
            </a:blip>
            <a:stretch>
              <a:fillRect l="0" t="-20155" r="0" b="-20155"/>
            </a:stretch>
          </a:blipFill>
        </p:spPr>
      </p:sp>
      <p:sp>
        <p:nvSpPr>
          <p:cNvPr name="Freeform 6" id="6"/>
          <p:cNvSpPr/>
          <p:nvPr/>
        </p:nvSpPr>
        <p:spPr>
          <a:xfrm flipH="false" flipV="false" rot="8100000">
            <a:off x="1628656" y="8674551"/>
            <a:ext cx="5343536" cy="1200452"/>
          </a:xfrm>
          <a:custGeom>
            <a:avLst/>
            <a:gdLst/>
            <a:ahLst/>
            <a:cxnLst/>
            <a:rect r="r" b="b" t="t" l="l"/>
            <a:pathLst>
              <a:path h="1200452" w="5343536">
                <a:moveTo>
                  <a:pt x="0" y="0"/>
                </a:moveTo>
                <a:lnTo>
                  <a:pt x="5343536" y="0"/>
                </a:lnTo>
                <a:lnTo>
                  <a:pt x="5343536" y="1200452"/>
                </a:lnTo>
                <a:lnTo>
                  <a:pt x="0" y="1200452"/>
                </a:lnTo>
                <a:lnTo>
                  <a:pt x="0" y="0"/>
                </a:lnTo>
                <a:close/>
              </a:path>
            </a:pathLst>
          </a:custGeom>
          <a:blipFill>
            <a:blip r:embed="rId2">
              <a:alphaModFix amt="19999"/>
            </a:blip>
            <a:stretch>
              <a:fillRect l="0" t="-7391" r="-47734" b="-7391"/>
            </a:stretch>
          </a:blipFill>
        </p:spPr>
      </p:sp>
      <p:grpSp>
        <p:nvGrpSpPr>
          <p:cNvPr name="Group 7" id="7"/>
          <p:cNvGrpSpPr/>
          <p:nvPr/>
        </p:nvGrpSpPr>
        <p:grpSpPr>
          <a:xfrm rot="-10800000">
            <a:off x="-6424337" y="1652165"/>
            <a:ext cx="12407330" cy="12407330"/>
            <a:chOff x="0" y="0"/>
            <a:chExt cx="812800" cy="812800"/>
          </a:xfrm>
        </p:grpSpPr>
        <p:sp>
          <p:nvSpPr>
            <p:cNvPr name="Freeform 8" id="8"/>
            <p:cNvSpPr/>
            <p:nvPr/>
          </p:nvSpPr>
          <p:spPr>
            <a:xfrm flipH="false" flipV="false" rot="0">
              <a:off x="14474" y="14474"/>
              <a:ext cx="783852" cy="783852"/>
            </a:xfrm>
            <a:custGeom>
              <a:avLst/>
              <a:gdLst/>
              <a:ahLst/>
              <a:cxnLst/>
              <a:rect r="r" b="b" t="t" l="l"/>
              <a:pathLst>
                <a:path h="783852" w="783852">
                  <a:moveTo>
                    <a:pt x="416634" y="10234"/>
                  </a:moveTo>
                  <a:lnTo>
                    <a:pt x="773618" y="367218"/>
                  </a:lnTo>
                  <a:cubicBezTo>
                    <a:pt x="780171" y="373771"/>
                    <a:pt x="783852" y="382659"/>
                    <a:pt x="783852" y="391926"/>
                  </a:cubicBezTo>
                  <a:cubicBezTo>
                    <a:pt x="783852" y="401193"/>
                    <a:pt x="780171" y="410081"/>
                    <a:pt x="773618" y="416634"/>
                  </a:cubicBezTo>
                  <a:lnTo>
                    <a:pt x="416634" y="773618"/>
                  </a:lnTo>
                  <a:cubicBezTo>
                    <a:pt x="410081" y="780171"/>
                    <a:pt x="401193" y="783852"/>
                    <a:pt x="391926" y="783852"/>
                  </a:cubicBezTo>
                  <a:cubicBezTo>
                    <a:pt x="382659" y="783852"/>
                    <a:pt x="373771" y="780171"/>
                    <a:pt x="367218" y="773618"/>
                  </a:cubicBezTo>
                  <a:lnTo>
                    <a:pt x="10234" y="416634"/>
                  </a:lnTo>
                  <a:cubicBezTo>
                    <a:pt x="3681" y="410081"/>
                    <a:pt x="0" y="401193"/>
                    <a:pt x="0" y="391926"/>
                  </a:cubicBezTo>
                  <a:cubicBezTo>
                    <a:pt x="0" y="382659"/>
                    <a:pt x="3681" y="373771"/>
                    <a:pt x="10234" y="367218"/>
                  </a:cubicBezTo>
                  <a:lnTo>
                    <a:pt x="367218" y="10234"/>
                  </a:lnTo>
                  <a:cubicBezTo>
                    <a:pt x="373771" y="3681"/>
                    <a:pt x="382659" y="0"/>
                    <a:pt x="391926" y="0"/>
                  </a:cubicBezTo>
                  <a:cubicBezTo>
                    <a:pt x="401193" y="0"/>
                    <a:pt x="410081" y="3681"/>
                    <a:pt x="416634" y="10234"/>
                  </a:cubicBezTo>
                  <a:close/>
                </a:path>
              </a:pathLst>
            </a:custGeom>
            <a:solidFill>
              <a:srgbClr val="FFFFFF"/>
            </a:solidFill>
          </p:spPr>
        </p:sp>
        <p:sp>
          <p:nvSpPr>
            <p:cNvPr name="TextBox 9" id="9"/>
            <p:cNvSpPr txBox="true"/>
            <p:nvPr/>
          </p:nvSpPr>
          <p:spPr>
            <a:xfrm>
              <a:off x="139700" y="101600"/>
              <a:ext cx="533400" cy="571500"/>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8100000">
            <a:off x="12451650" y="-2663184"/>
            <a:ext cx="3456456" cy="11815284"/>
            <a:chOff x="0" y="0"/>
            <a:chExt cx="910342" cy="3111844"/>
          </a:xfrm>
        </p:grpSpPr>
        <p:sp>
          <p:nvSpPr>
            <p:cNvPr name="Freeform 11" id="11"/>
            <p:cNvSpPr/>
            <p:nvPr/>
          </p:nvSpPr>
          <p:spPr>
            <a:xfrm flipH="false" flipV="false" rot="0">
              <a:off x="0" y="0"/>
              <a:ext cx="910342" cy="3111844"/>
            </a:xfrm>
            <a:custGeom>
              <a:avLst/>
              <a:gdLst/>
              <a:ahLst/>
              <a:cxnLst/>
              <a:rect r="r" b="b" t="t" l="l"/>
              <a:pathLst>
                <a:path h="3111844" w="910342">
                  <a:moveTo>
                    <a:pt x="203200" y="0"/>
                  </a:moveTo>
                  <a:lnTo>
                    <a:pt x="910342" y="0"/>
                  </a:lnTo>
                  <a:lnTo>
                    <a:pt x="707142" y="3111844"/>
                  </a:lnTo>
                  <a:lnTo>
                    <a:pt x="0" y="3111844"/>
                  </a:lnTo>
                  <a:lnTo>
                    <a:pt x="203200" y="0"/>
                  </a:lnTo>
                  <a:close/>
                </a:path>
              </a:pathLst>
            </a:custGeom>
            <a:solidFill>
              <a:srgbClr val="047650"/>
            </a:solidFill>
          </p:spPr>
        </p:sp>
        <p:sp>
          <p:nvSpPr>
            <p:cNvPr name="TextBox 12" id="12"/>
            <p:cNvSpPr txBox="true"/>
            <p:nvPr/>
          </p:nvSpPr>
          <p:spPr>
            <a:xfrm>
              <a:off x="101600" y="-38100"/>
              <a:ext cx="707142" cy="3149944"/>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2587936">
            <a:off x="14631524" y="-2632454"/>
            <a:ext cx="4184293" cy="10172185"/>
            <a:chOff x="0" y="0"/>
            <a:chExt cx="1622238" cy="3943726"/>
          </a:xfrm>
        </p:grpSpPr>
        <p:sp>
          <p:nvSpPr>
            <p:cNvPr name="Freeform 14" id="1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5" id="1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7806094">
            <a:off x="10356763" y="551921"/>
            <a:ext cx="5477894" cy="1200452"/>
          </a:xfrm>
          <a:custGeom>
            <a:avLst/>
            <a:gdLst/>
            <a:ahLst/>
            <a:cxnLst/>
            <a:rect r="r" b="b" t="t" l="l"/>
            <a:pathLst>
              <a:path h="1200452" w="5477894">
                <a:moveTo>
                  <a:pt x="0" y="0"/>
                </a:moveTo>
                <a:lnTo>
                  <a:pt x="5477893" y="0"/>
                </a:lnTo>
                <a:lnTo>
                  <a:pt x="5477893" y="1200452"/>
                </a:lnTo>
                <a:lnTo>
                  <a:pt x="0" y="1200452"/>
                </a:lnTo>
                <a:lnTo>
                  <a:pt x="0" y="0"/>
                </a:lnTo>
                <a:close/>
              </a:path>
            </a:pathLst>
          </a:custGeom>
          <a:blipFill>
            <a:blip r:embed="rId2">
              <a:alphaModFix amt="27000"/>
            </a:blip>
            <a:stretch>
              <a:fillRect l="-22095" t="0" r="-3456" b="0"/>
            </a:stretch>
          </a:blipFill>
        </p:spPr>
      </p:sp>
      <p:sp>
        <p:nvSpPr>
          <p:cNvPr name="Freeform 17" id="17"/>
          <p:cNvSpPr/>
          <p:nvPr/>
        </p:nvSpPr>
        <p:spPr>
          <a:xfrm flipH="false" flipV="false" rot="2700000">
            <a:off x="9024937" y="6754349"/>
            <a:ext cx="9126703" cy="2389537"/>
          </a:xfrm>
          <a:custGeom>
            <a:avLst/>
            <a:gdLst/>
            <a:ahLst/>
            <a:cxnLst/>
            <a:rect r="r" b="b" t="t" l="l"/>
            <a:pathLst>
              <a:path h="2389537" w="9126703">
                <a:moveTo>
                  <a:pt x="0" y="0"/>
                </a:moveTo>
                <a:lnTo>
                  <a:pt x="9126703" y="0"/>
                </a:lnTo>
                <a:lnTo>
                  <a:pt x="9126703" y="2389537"/>
                </a:lnTo>
                <a:lnTo>
                  <a:pt x="0" y="2389537"/>
                </a:lnTo>
                <a:lnTo>
                  <a:pt x="0" y="0"/>
                </a:lnTo>
                <a:close/>
              </a:path>
            </a:pathLst>
          </a:custGeom>
          <a:blipFill>
            <a:blip r:embed="rId3">
              <a:alphaModFix amt="53000"/>
            </a:blip>
            <a:stretch>
              <a:fillRect l="0" t="0" r="0" b="0"/>
            </a:stretch>
          </a:blipFill>
        </p:spPr>
      </p:sp>
      <p:grpSp>
        <p:nvGrpSpPr>
          <p:cNvPr name="Group 18" id="18"/>
          <p:cNvGrpSpPr/>
          <p:nvPr/>
        </p:nvGrpSpPr>
        <p:grpSpPr>
          <a:xfrm rot="0">
            <a:off x="10601736" y="224334"/>
            <a:ext cx="10351611" cy="10351611"/>
            <a:chOff x="0" y="0"/>
            <a:chExt cx="812800" cy="812800"/>
          </a:xfrm>
        </p:grpSpPr>
        <p:sp>
          <p:nvSpPr>
            <p:cNvPr name="Freeform 19" id="19"/>
            <p:cNvSpPr/>
            <p:nvPr/>
          </p:nvSpPr>
          <p:spPr>
            <a:xfrm flipH="false" flipV="false" rot="0">
              <a:off x="17348" y="17348"/>
              <a:ext cx="778104" cy="778104"/>
            </a:xfrm>
            <a:custGeom>
              <a:avLst/>
              <a:gdLst/>
              <a:ahLst/>
              <a:cxnLst/>
              <a:rect r="r" b="b" t="t" l="l"/>
              <a:pathLst>
                <a:path h="778104" w="778104">
                  <a:moveTo>
                    <a:pt x="418667" y="12267"/>
                  </a:moveTo>
                  <a:lnTo>
                    <a:pt x="765837" y="359437"/>
                  </a:lnTo>
                  <a:cubicBezTo>
                    <a:pt x="773691" y="367291"/>
                    <a:pt x="778104" y="377944"/>
                    <a:pt x="778104" y="389052"/>
                  </a:cubicBezTo>
                  <a:cubicBezTo>
                    <a:pt x="778104" y="400160"/>
                    <a:pt x="773691" y="410813"/>
                    <a:pt x="765837" y="418667"/>
                  </a:cubicBezTo>
                  <a:lnTo>
                    <a:pt x="418667" y="765837"/>
                  </a:lnTo>
                  <a:cubicBezTo>
                    <a:pt x="410813" y="773691"/>
                    <a:pt x="400160" y="778104"/>
                    <a:pt x="389052" y="778104"/>
                  </a:cubicBezTo>
                  <a:cubicBezTo>
                    <a:pt x="377944" y="778104"/>
                    <a:pt x="367291" y="773691"/>
                    <a:pt x="359437" y="765837"/>
                  </a:cubicBezTo>
                  <a:lnTo>
                    <a:pt x="12267" y="418667"/>
                  </a:lnTo>
                  <a:cubicBezTo>
                    <a:pt x="4413" y="410813"/>
                    <a:pt x="0" y="400160"/>
                    <a:pt x="0" y="389052"/>
                  </a:cubicBezTo>
                  <a:cubicBezTo>
                    <a:pt x="0" y="377944"/>
                    <a:pt x="4413" y="367291"/>
                    <a:pt x="12267" y="359437"/>
                  </a:cubicBezTo>
                  <a:lnTo>
                    <a:pt x="359437" y="12267"/>
                  </a:lnTo>
                  <a:cubicBezTo>
                    <a:pt x="367291" y="4413"/>
                    <a:pt x="377944" y="0"/>
                    <a:pt x="389052" y="0"/>
                  </a:cubicBezTo>
                  <a:cubicBezTo>
                    <a:pt x="400160" y="0"/>
                    <a:pt x="410813" y="4413"/>
                    <a:pt x="418667" y="12267"/>
                  </a:cubicBezTo>
                  <a:close/>
                </a:path>
              </a:pathLst>
            </a:custGeom>
            <a:solidFill>
              <a:srgbClr val="FFFFFF"/>
            </a:solidFill>
          </p:spPr>
        </p:sp>
        <p:sp>
          <p:nvSpPr>
            <p:cNvPr name="TextBox 20" id="20"/>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grpSp>
        <p:nvGrpSpPr>
          <p:cNvPr name="Group 21" id="21"/>
          <p:cNvGrpSpPr/>
          <p:nvPr/>
        </p:nvGrpSpPr>
        <p:grpSpPr>
          <a:xfrm rot="0">
            <a:off x="11116103" y="738700"/>
            <a:ext cx="9322879" cy="9322879"/>
            <a:chOff x="0" y="0"/>
            <a:chExt cx="812800" cy="812800"/>
          </a:xfrm>
        </p:grpSpPr>
        <p:sp>
          <p:nvSpPr>
            <p:cNvPr name="Freeform 22" id="22"/>
            <p:cNvSpPr/>
            <p:nvPr/>
          </p:nvSpPr>
          <p:spPr>
            <a:xfrm flipH="false" flipV="false" rot="0">
              <a:off x="19262" y="19262"/>
              <a:ext cx="774275" cy="774275"/>
            </a:xfrm>
            <a:custGeom>
              <a:avLst/>
              <a:gdLst/>
              <a:ahLst/>
              <a:cxnLst/>
              <a:rect r="r" b="b" t="t" l="l"/>
              <a:pathLst>
                <a:path h="774275" w="774275">
                  <a:moveTo>
                    <a:pt x="420021" y="13621"/>
                  </a:moveTo>
                  <a:lnTo>
                    <a:pt x="760655" y="354255"/>
                  </a:lnTo>
                  <a:cubicBezTo>
                    <a:pt x="778816" y="372416"/>
                    <a:pt x="778816" y="401860"/>
                    <a:pt x="760655" y="420021"/>
                  </a:cubicBezTo>
                  <a:lnTo>
                    <a:pt x="420021" y="760655"/>
                  </a:lnTo>
                  <a:cubicBezTo>
                    <a:pt x="401860" y="778816"/>
                    <a:pt x="372416" y="778816"/>
                    <a:pt x="354255" y="760655"/>
                  </a:cubicBezTo>
                  <a:lnTo>
                    <a:pt x="13621" y="420021"/>
                  </a:lnTo>
                  <a:cubicBezTo>
                    <a:pt x="-4540" y="401860"/>
                    <a:pt x="-4540" y="372416"/>
                    <a:pt x="13621" y="354255"/>
                  </a:cubicBezTo>
                  <a:lnTo>
                    <a:pt x="354255" y="13621"/>
                  </a:lnTo>
                  <a:cubicBezTo>
                    <a:pt x="372416" y="-4540"/>
                    <a:pt x="401860" y="-4540"/>
                    <a:pt x="420021" y="13621"/>
                  </a:cubicBezTo>
                  <a:close/>
                </a:path>
              </a:pathLst>
            </a:custGeom>
            <a:blipFill>
              <a:blip r:embed="rId4"/>
              <a:stretch>
                <a:fillRect l="-25187" t="0" r="-25187" b="0"/>
              </a:stretch>
            </a:blipFill>
          </p:spPr>
        </p:sp>
      </p:grpSp>
      <p:sp>
        <p:nvSpPr>
          <p:cNvPr name="Freeform 23" id="23"/>
          <p:cNvSpPr/>
          <p:nvPr/>
        </p:nvSpPr>
        <p:spPr>
          <a:xfrm flipH="false" flipV="false" rot="-7806094">
            <a:off x="14034241" y="1275625"/>
            <a:ext cx="5477894" cy="1200452"/>
          </a:xfrm>
          <a:custGeom>
            <a:avLst/>
            <a:gdLst/>
            <a:ahLst/>
            <a:cxnLst/>
            <a:rect r="r" b="b" t="t" l="l"/>
            <a:pathLst>
              <a:path h="1200452" w="5477894">
                <a:moveTo>
                  <a:pt x="0" y="0"/>
                </a:moveTo>
                <a:lnTo>
                  <a:pt x="5477894" y="0"/>
                </a:lnTo>
                <a:lnTo>
                  <a:pt x="5477894" y="1200452"/>
                </a:lnTo>
                <a:lnTo>
                  <a:pt x="0" y="1200452"/>
                </a:lnTo>
                <a:lnTo>
                  <a:pt x="0" y="0"/>
                </a:lnTo>
                <a:close/>
              </a:path>
            </a:pathLst>
          </a:custGeom>
          <a:blipFill>
            <a:blip r:embed="rId2">
              <a:alphaModFix amt="27000"/>
            </a:blip>
            <a:stretch>
              <a:fillRect l="-22095" t="0" r="-3456" b="0"/>
            </a:stretch>
          </a:blipFill>
        </p:spPr>
      </p:sp>
      <p:grpSp>
        <p:nvGrpSpPr>
          <p:cNvPr name="Group 24" id="24"/>
          <p:cNvGrpSpPr/>
          <p:nvPr/>
        </p:nvGrpSpPr>
        <p:grpSpPr>
          <a:xfrm rot="-2587936">
            <a:off x="15934215" y="-3293537"/>
            <a:ext cx="3280102" cy="7974061"/>
            <a:chOff x="0" y="0"/>
            <a:chExt cx="1622238" cy="3943726"/>
          </a:xfrm>
        </p:grpSpPr>
        <p:sp>
          <p:nvSpPr>
            <p:cNvPr name="Freeform 25" id="2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26" id="26"/>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7" id="27"/>
          <p:cNvSpPr/>
          <p:nvPr/>
        </p:nvSpPr>
        <p:spPr>
          <a:xfrm flipH="false" flipV="false" rot="0">
            <a:off x="10961297" y="7855830"/>
            <a:ext cx="1516574" cy="2260477"/>
          </a:xfrm>
          <a:custGeom>
            <a:avLst/>
            <a:gdLst/>
            <a:ahLst/>
            <a:cxnLst/>
            <a:rect r="r" b="b" t="t" l="l"/>
            <a:pathLst>
              <a:path h="2260477" w="1516574">
                <a:moveTo>
                  <a:pt x="0" y="0"/>
                </a:moveTo>
                <a:lnTo>
                  <a:pt x="1516574" y="0"/>
                </a:lnTo>
                <a:lnTo>
                  <a:pt x="1516574" y="2260476"/>
                </a:lnTo>
                <a:lnTo>
                  <a:pt x="0" y="22604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371818" y="1970973"/>
            <a:ext cx="11661985" cy="4643551"/>
          </a:xfrm>
          <a:prstGeom prst="rect">
            <a:avLst/>
          </a:prstGeom>
        </p:spPr>
        <p:txBody>
          <a:bodyPr anchor="t" rtlCol="false" tIns="0" lIns="0" bIns="0" rIns="0">
            <a:spAutoFit/>
          </a:bodyPr>
          <a:lstStyle/>
          <a:p>
            <a:pPr algn="l">
              <a:lnSpc>
                <a:spcPts val="4081"/>
              </a:lnSpc>
            </a:pPr>
            <a:r>
              <a:rPr lang="en-US" sz="2915">
                <a:solidFill>
                  <a:srgbClr val="000000"/>
                </a:solidFill>
                <a:latin typeface="Poppins Light"/>
                <a:ea typeface="Poppins Light"/>
                <a:cs typeface="Poppins Light"/>
                <a:sym typeface="Poppins Light"/>
              </a:rPr>
              <a:t>This project forecasts CO2 emissions for individual countries using historical emissions, economic, population, and energy data from Our World in Data (OWID) to support informed climate policymaking and planning.</a:t>
            </a:r>
          </a:p>
          <a:p>
            <a:pPr algn="l">
              <a:lnSpc>
                <a:spcPts val="4081"/>
              </a:lnSpc>
            </a:pPr>
          </a:p>
          <a:p>
            <a:pPr algn="l">
              <a:lnSpc>
                <a:spcPts val="4081"/>
              </a:lnSpc>
            </a:pPr>
            <a:r>
              <a:rPr lang="en-US" sz="2915">
                <a:solidFill>
                  <a:srgbClr val="000000"/>
                </a:solidFill>
                <a:latin typeface="Poppins Light"/>
                <a:ea typeface="Poppins Light"/>
                <a:cs typeface="Poppins Light"/>
                <a:sym typeface="Poppins Light"/>
              </a:rPr>
              <a:t>The project is motivated by research cited in the notebook, including the IPCC(inter-governmental panel on climate change) Sixth Assessment Report on drivers of fossil-fuel CO₂ emissions and Costantini et al. (2024). </a:t>
            </a:r>
          </a:p>
        </p:txBody>
      </p:sp>
      <p:sp>
        <p:nvSpPr>
          <p:cNvPr name="TextBox 29" id="29"/>
          <p:cNvSpPr txBox="true"/>
          <p:nvPr/>
        </p:nvSpPr>
        <p:spPr>
          <a:xfrm rot="0">
            <a:off x="617024" y="7046068"/>
            <a:ext cx="8899659" cy="809762"/>
          </a:xfrm>
          <a:prstGeom prst="rect">
            <a:avLst/>
          </a:prstGeom>
        </p:spPr>
        <p:txBody>
          <a:bodyPr anchor="t" rtlCol="false" tIns="0" lIns="0" bIns="0" rIns="0">
            <a:spAutoFit/>
          </a:bodyPr>
          <a:lstStyle/>
          <a:p>
            <a:pPr algn="l">
              <a:lnSpc>
                <a:spcPts val="6014"/>
              </a:lnSpc>
            </a:pPr>
            <a:r>
              <a:rPr lang="en-US" sz="6200" b="true">
                <a:solidFill>
                  <a:srgbClr val="047650"/>
                </a:solidFill>
                <a:latin typeface="Garet Bold"/>
                <a:ea typeface="Garet Bold"/>
                <a:cs typeface="Garet Bold"/>
                <a:sym typeface="Garet Bold"/>
              </a:rPr>
              <a:t>WHY</a:t>
            </a:r>
          </a:p>
        </p:txBody>
      </p:sp>
      <p:sp>
        <p:nvSpPr>
          <p:cNvPr name="TextBox 30" id="30"/>
          <p:cNvSpPr txBox="true"/>
          <p:nvPr/>
        </p:nvSpPr>
        <p:spPr>
          <a:xfrm rot="0">
            <a:off x="1986774" y="7897811"/>
            <a:ext cx="9535856" cy="2389189"/>
          </a:xfrm>
          <a:prstGeom prst="rect">
            <a:avLst/>
          </a:prstGeom>
        </p:spPr>
        <p:txBody>
          <a:bodyPr anchor="t" rtlCol="false" tIns="0" lIns="0" bIns="0" rIns="0">
            <a:spAutoFit/>
          </a:bodyPr>
          <a:lstStyle/>
          <a:p>
            <a:pPr algn="l">
              <a:lnSpc>
                <a:spcPts val="3762"/>
              </a:lnSpc>
            </a:pPr>
            <a:r>
              <a:rPr lang="en-US" sz="2687">
                <a:solidFill>
                  <a:srgbClr val="000000"/>
                </a:solidFill>
                <a:latin typeface="Poppins Light"/>
                <a:ea typeface="Poppins Light"/>
                <a:cs typeface="Poppins Light"/>
                <a:sym typeface="Poppins Light"/>
              </a:rPr>
              <a:t>Understanding future CO₂ trends supports:</a:t>
            </a:r>
          </a:p>
          <a:p>
            <a:pPr algn="l" marL="580215" indent="-290107" lvl="1">
              <a:lnSpc>
                <a:spcPts val="3762"/>
              </a:lnSpc>
              <a:buFont typeface="Arial"/>
              <a:buChar char="•"/>
            </a:pPr>
            <a:r>
              <a:rPr lang="en-US" sz="2687">
                <a:solidFill>
                  <a:srgbClr val="000000"/>
                </a:solidFill>
                <a:latin typeface="Poppins Light"/>
                <a:ea typeface="Poppins Light"/>
                <a:cs typeface="Poppins Light"/>
                <a:sym typeface="Poppins Light"/>
              </a:rPr>
              <a:t>Climate planning </a:t>
            </a:r>
          </a:p>
          <a:p>
            <a:pPr algn="l" marL="580215" indent="-290107" lvl="1">
              <a:lnSpc>
                <a:spcPts val="3762"/>
              </a:lnSpc>
              <a:buFont typeface="Arial"/>
              <a:buChar char="•"/>
            </a:pPr>
            <a:r>
              <a:rPr lang="en-US" sz="2687">
                <a:solidFill>
                  <a:srgbClr val="000000"/>
                </a:solidFill>
                <a:latin typeface="Poppins Light"/>
                <a:ea typeface="Poppins Light"/>
                <a:cs typeface="Poppins Light"/>
                <a:sym typeface="Poppins Light"/>
              </a:rPr>
              <a:t>Cleaner-energy investment </a:t>
            </a:r>
          </a:p>
          <a:p>
            <a:pPr algn="l" marL="580215" indent="-290107" lvl="1">
              <a:lnSpc>
                <a:spcPts val="3762"/>
              </a:lnSpc>
              <a:buFont typeface="Arial"/>
              <a:buChar char="•"/>
            </a:pPr>
            <a:r>
              <a:rPr lang="en-US" sz="2687">
                <a:solidFill>
                  <a:srgbClr val="000000"/>
                </a:solidFill>
                <a:latin typeface="Poppins Light"/>
                <a:ea typeface="Poppins Light"/>
                <a:cs typeface="Poppins Light"/>
                <a:sym typeface="Poppins Light"/>
              </a:rPr>
              <a:t>Better resource allocation</a:t>
            </a:r>
          </a:p>
          <a:p>
            <a:pPr algn="l">
              <a:lnSpc>
                <a:spcPts val="3762"/>
              </a:lnSpc>
            </a:pPr>
          </a:p>
        </p:txBody>
      </p:sp>
      <p:sp>
        <p:nvSpPr>
          <p:cNvPr name="TextBox 31" id="31"/>
          <p:cNvSpPr txBox="true"/>
          <p:nvPr/>
        </p:nvSpPr>
        <p:spPr>
          <a:xfrm rot="0">
            <a:off x="198851" y="281484"/>
            <a:ext cx="16524819" cy="865916"/>
          </a:xfrm>
          <a:prstGeom prst="rect">
            <a:avLst/>
          </a:prstGeom>
        </p:spPr>
        <p:txBody>
          <a:bodyPr anchor="t" rtlCol="false" tIns="0" lIns="0" bIns="0" rIns="0">
            <a:spAutoFit/>
          </a:bodyPr>
          <a:lstStyle/>
          <a:p>
            <a:pPr algn="l">
              <a:lnSpc>
                <a:spcPts val="6621"/>
              </a:lnSpc>
            </a:pPr>
            <a:r>
              <a:rPr lang="en-US" sz="6074" b="true">
                <a:solidFill>
                  <a:srgbClr val="F7FBFF"/>
                </a:solidFill>
                <a:latin typeface="Garet Bold"/>
                <a:ea typeface="Garet Bold"/>
                <a:cs typeface="Garet Bold"/>
                <a:sym typeface="Garet Bold"/>
              </a:rPr>
              <a:t>BUSINESS UNDERSTANDING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TextBox 2" id="2"/>
          <p:cNvSpPr txBox="true"/>
          <p:nvPr/>
        </p:nvSpPr>
        <p:spPr>
          <a:xfrm rot="0">
            <a:off x="713636" y="303637"/>
            <a:ext cx="9509412" cy="1057279"/>
          </a:xfrm>
          <a:prstGeom prst="rect">
            <a:avLst/>
          </a:prstGeom>
        </p:spPr>
        <p:txBody>
          <a:bodyPr anchor="t" rtlCol="false" tIns="0" lIns="0" bIns="0" rIns="0">
            <a:spAutoFit/>
          </a:bodyPr>
          <a:lstStyle/>
          <a:p>
            <a:pPr algn="l">
              <a:lnSpc>
                <a:spcPts val="8175"/>
              </a:lnSpc>
            </a:pPr>
            <a:r>
              <a:rPr lang="en-US" sz="7500" b="true">
                <a:solidFill>
                  <a:srgbClr val="047650"/>
                </a:solidFill>
                <a:latin typeface="Garet Bold"/>
                <a:ea typeface="Garet Bold"/>
                <a:cs typeface="Garet Bold"/>
                <a:sym typeface="Garet Bold"/>
              </a:rPr>
              <a:t>OBJECTIVES</a:t>
            </a:r>
          </a:p>
        </p:txBody>
      </p:sp>
      <p:grpSp>
        <p:nvGrpSpPr>
          <p:cNvPr name="Group 3" id="3"/>
          <p:cNvGrpSpPr/>
          <p:nvPr/>
        </p:nvGrpSpPr>
        <p:grpSpPr>
          <a:xfrm rot="2518158">
            <a:off x="13134676" y="733804"/>
            <a:ext cx="6159434" cy="14973834"/>
            <a:chOff x="0" y="0"/>
            <a:chExt cx="1622238" cy="3943726"/>
          </a:xfrm>
        </p:grpSpPr>
        <p:sp>
          <p:nvSpPr>
            <p:cNvPr name="Freeform 4" id="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7650"/>
            </a:solidFill>
          </p:spPr>
        </p:sp>
        <p:sp>
          <p:nvSpPr>
            <p:cNvPr name="TextBox 5" id="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1649360" y="-2829619"/>
            <a:ext cx="11130416" cy="10628974"/>
            <a:chOff x="0" y="0"/>
            <a:chExt cx="14840555" cy="14171966"/>
          </a:xfrm>
        </p:grpSpPr>
        <p:sp>
          <p:nvSpPr>
            <p:cNvPr name="Freeform 7" id="7"/>
            <p:cNvSpPr/>
            <p:nvPr/>
          </p:nvSpPr>
          <p:spPr>
            <a:xfrm flipH="false" flipV="false" rot="-8100000">
              <a:off x="-275228" y="8847652"/>
              <a:ext cx="7039768" cy="1371187"/>
            </a:xfrm>
            <a:custGeom>
              <a:avLst/>
              <a:gdLst/>
              <a:ahLst/>
              <a:cxnLst/>
              <a:rect r="r" b="b" t="t" l="l"/>
              <a:pathLst>
                <a:path h="1371187" w="7039768">
                  <a:moveTo>
                    <a:pt x="0" y="0"/>
                  </a:moveTo>
                  <a:lnTo>
                    <a:pt x="7039768" y="0"/>
                  </a:lnTo>
                  <a:lnTo>
                    <a:pt x="7039768" y="1371187"/>
                  </a:lnTo>
                  <a:lnTo>
                    <a:pt x="0" y="1371187"/>
                  </a:lnTo>
                  <a:lnTo>
                    <a:pt x="0" y="0"/>
                  </a:lnTo>
                  <a:close/>
                </a:path>
              </a:pathLst>
            </a:custGeom>
            <a:blipFill>
              <a:blip r:embed="rId2">
                <a:alphaModFix amt="27000"/>
              </a:blip>
              <a:stretch>
                <a:fillRect l="-21357" t="-4375" r="0" b="-4375"/>
              </a:stretch>
            </a:blipFill>
          </p:spPr>
        </p:sp>
        <p:sp>
          <p:nvSpPr>
            <p:cNvPr name="Freeform 8" id="8"/>
            <p:cNvSpPr/>
            <p:nvPr/>
          </p:nvSpPr>
          <p:spPr>
            <a:xfrm flipH="false" flipV="false" rot="-2700000">
              <a:off x="-776244" y="3659472"/>
              <a:ext cx="8610864" cy="1371187"/>
            </a:xfrm>
            <a:custGeom>
              <a:avLst/>
              <a:gdLst/>
              <a:ahLst/>
              <a:cxnLst/>
              <a:rect r="r" b="b" t="t" l="l"/>
              <a:pathLst>
                <a:path h="1371187" w="8610864">
                  <a:moveTo>
                    <a:pt x="0" y="0"/>
                  </a:moveTo>
                  <a:lnTo>
                    <a:pt x="8610864" y="0"/>
                  </a:lnTo>
                  <a:lnTo>
                    <a:pt x="8610864" y="1371188"/>
                  </a:lnTo>
                  <a:lnTo>
                    <a:pt x="0" y="1371188"/>
                  </a:lnTo>
                  <a:lnTo>
                    <a:pt x="0" y="0"/>
                  </a:lnTo>
                  <a:close/>
                </a:path>
              </a:pathLst>
            </a:custGeom>
            <a:blipFill>
              <a:blip r:embed="rId2">
                <a:alphaModFix amt="27000"/>
              </a:blip>
              <a:stretch>
                <a:fillRect l="0" t="-7391" r="-4716" b="-7391"/>
              </a:stretch>
            </a:blipFill>
          </p:spPr>
        </p:sp>
        <p:grpSp>
          <p:nvGrpSpPr>
            <p:cNvPr name="Group 9" id="9"/>
            <p:cNvGrpSpPr/>
            <p:nvPr/>
          </p:nvGrpSpPr>
          <p:grpSpPr>
            <a:xfrm rot="0">
              <a:off x="668589" y="0"/>
              <a:ext cx="14171966" cy="14171966"/>
              <a:chOff x="0" y="0"/>
              <a:chExt cx="812800" cy="812800"/>
            </a:xfrm>
          </p:grpSpPr>
          <p:sp>
            <p:nvSpPr>
              <p:cNvPr name="Freeform 10" id="10"/>
              <p:cNvSpPr/>
              <p:nvPr/>
            </p:nvSpPr>
            <p:spPr>
              <a:xfrm flipH="false" flipV="false" rot="0">
                <a:off x="16895" y="16895"/>
                <a:ext cx="779009" cy="779009"/>
              </a:xfrm>
              <a:custGeom>
                <a:avLst/>
                <a:gdLst/>
                <a:ahLst/>
                <a:cxnLst/>
                <a:rect r="r" b="b" t="t" l="l"/>
                <a:pathLst>
                  <a:path h="779009" w="779009">
                    <a:moveTo>
                      <a:pt x="418347" y="11947"/>
                    </a:moveTo>
                    <a:lnTo>
                      <a:pt x="767063" y="360663"/>
                    </a:lnTo>
                    <a:cubicBezTo>
                      <a:pt x="774712" y="368312"/>
                      <a:pt x="779010" y="378687"/>
                      <a:pt x="779010" y="389505"/>
                    </a:cubicBezTo>
                    <a:cubicBezTo>
                      <a:pt x="779010" y="400323"/>
                      <a:pt x="774712" y="410698"/>
                      <a:pt x="767063" y="418347"/>
                    </a:cubicBezTo>
                    <a:lnTo>
                      <a:pt x="418347" y="767063"/>
                    </a:lnTo>
                    <a:cubicBezTo>
                      <a:pt x="410698" y="774712"/>
                      <a:pt x="400323" y="779010"/>
                      <a:pt x="389505" y="779010"/>
                    </a:cubicBezTo>
                    <a:cubicBezTo>
                      <a:pt x="378687" y="779010"/>
                      <a:pt x="368312" y="774712"/>
                      <a:pt x="360663" y="767063"/>
                    </a:cubicBezTo>
                    <a:lnTo>
                      <a:pt x="11947" y="418347"/>
                    </a:lnTo>
                    <a:cubicBezTo>
                      <a:pt x="4298" y="410698"/>
                      <a:pt x="0" y="400323"/>
                      <a:pt x="0" y="389505"/>
                    </a:cubicBezTo>
                    <a:cubicBezTo>
                      <a:pt x="0" y="378687"/>
                      <a:pt x="4298" y="368312"/>
                      <a:pt x="11947" y="360663"/>
                    </a:cubicBezTo>
                    <a:lnTo>
                      <a:pt x="360663" y="11947"/>
                    </a:lnTo>
                    <a:cubicBezTo>
                      <a:pt x="368312" y="4298"/>
                      <a:pt x="378687" y="0"/>
                      <a:pt x="389505" y="0"/>
                    </a:cubicBezTo>
                    <a:cubicBezTo>
                      <a:pt x="400323" y="0"/>
                      <a:pt x="410698" y="4298"/>
                      <a:pt x="418347" y="11947"/>
                    </a:cubicBezTo>
                    <a:close/>
                  </a:path>
                </a:pathLst>
              </a:custGeom>
              <a:solidFill>
                <a:srgbClr val="FFFFFF"/>
              </a:solidFill>
            </p:spPr>
          </p:sp>
          <p:sp>
            <p:nvSpPr>
              <p:cNvPr name="TextBox 11" id="11"/>
              <p:cNvSpPr txBox="true"/>
              <p:nvPr/>
            </p:nvSpPr>
            <p:spPr>
              <a:xfrm>
                <a:off x="139700" y="101600"/>
                <a:ext cx="533400" cy="571500"/>
              </a:xfrm>
              <a:prstGeom prst="rect">
                <a:avLst/>
              </a:prstGeom>
            </p:spPr>
            <p:txBody>
              <a:bodyPr anchor="ctr" rtlCol="false" tIns="43519" lIns="43519" bIns="43519" rIns="43519"/>
              <a:lstStyle/>
              <a:p>
                <a:pPr algn="ctr">
                  <a:lnSpc>
                    <a:spcPts val="3359"/>
                  </a:lnSpc>
                </a:pPr>
              </a:p>
            </p:txBody>
          </p:sp>
        </p:grpSp>
      </p:grpSp>
      <p:grpSp>
        <p:nvGrpSpPr>
          <p:cNvPr name="Group 12" id="12"/>
          <p:cNvGrpSpPr/>
          <p:nvPr/>
        </p:nvGrpSpPr>
        <p:grpSpPr>
          <a:xfrm rot="0">
            <a:off x="12678950" y="-2301470"/>
            <a:ext cx="9572678" cy="9572678"/>
            <a:chOff x="0" y="0"/>
            <a:chExt cx="812800" cy="812800"/>
          </a:xfrm>
        </p:grpSpPr>
        <p:sp>
          <p:nvSpPr>
            <p:cNvPr name="Freeform 13" id="13"/>
            <p:cNvSpPr/>
            <p:nvPr/>
          </p:nvSpPr>
          <p:spPr>
            <a:xfrm flipH="false" flipV="false" rot="0">
              <a:off x="18760" y="18760"/>
              <a:ext cx="775280" cy="775280"/>
            </a:xfrm>
            <a:custGeom>
              <a:avLst/>
              <a:gdLst/>
              <a:ahLst/>
              <a:cxnLst/>
              <a:rect r="r" b="b" t="t" l="l"/>
              <a:pathLst>
                <a:path h="775280" w="775280">
                  <a:moveTo>
                    <a:pt x="419665" y="13265"/>
                  </a:moveTo>
                  <a:lnTo>
                    <a:pt x="762015" y="355615"/>
                  </a:lnTo>
                  <a:cubicBezTo>
                    <a:pt x="779702" y="373302"/>
                    <a:pt x="779702" y="401978"/>
                    <a:pt x="762015" y="419665"/>
                  </a:cubicBezTo>
                  <a:lnTo>
                    <a:pt x="419665" y="762015"/>
                  </a:lnTo>
                  <a:cubicBezTo>
                    <a:pt x="401978" y="779702"/>
                    <a:pt x="373302" y="779702"/>
                    <a:pt x="355615" y="762015"/>
                  </a:cubicBezTo>
                  <a:lnTo>
                    <a:pt x="13265" y="419665"/>
                  </a:lnTo>
                  <a:cubicBezTo>
                    <a:pt x="-4422" y="401978"/>
                    <a:pt x="-4422" y="373302"/>
                    <a:pt x="13265" y="355615"/>
                  </a:cubicBezTo>
                  <a:lnTo>
                    <a:pt x="355615" y="13265"/>
                  </a:lnTo>
                  <a:cubicBezTo>
                    <a:pt x="373302" y="-4422"/>
                    <a:pt x="401978" y="-4422"/>
                    <a:pt x="419665" y="13265"/>
                  </a:cubicBezTo>
                  <a:close/>
                </a:path>
              </a:pathLst>
            </a:custGeom>
            <a:blipFill>
              <a:blip r:embed="rId3"/>
              <a:stretch>
                <a:fillRect l="-26515" t="0" r="-23578" b="0"/>
              </a:stretch>
            </a:blipFill>
          </p:spPr>
        </p:sp>
      </p:grpSp>
      <p:sp>
        <p:nvSpPr>
          <p:cNvPr name="Freeform 14" id="14"/>
          <p:cNvSpPr/>
          <p:nvPr/>
        </p:nvSpPr>
        <p:spPr>
          <a:xfrm flipH="false" flipV="false" rot="-8100000">
            <a:off x="13308411" y="6396387"/>
            <a:ext cx="771811" cy="5723826"/>
          </a:xfrm>
          <a:custGeom>
            <a:avLst/>
            <a:gdLst/>
            <a:ahLst/>
            <a:cxnLst/>
            <a:rect r="r" b="b" t="t" l="l"/>
            <a:pathLst>
              <a:path h="5723826" w="771811">
                <a:moveTo>
                  <a:pt x="0" y="0"/>
                </a:moveTo>
                <a:lnTo>
                  <a:pt x="771812" y="0"/>
                </a:lnTo>
                <a:lnTo>
                  <a:pt x="771812" y="5723826"/>
                </a:lnTo>
                <a:lnTo>
                  <a:pt x="0" y="5723826"/>
                </a:lnTo>
                <a:lnTo>
                  <a:pt x="0" y="0"/>
                </a:lnTo>
                <a:close/>
              </a:path>
            </a:pathLst>
          </a:custGeom>
          <a:blipFill>
            <a:blip r:embed="rId4"/>
            <a:stretch>
              <a:fillRect l="-156641" t="0" r="-35957" b="0"/>
            </a:stretch>
          </a:blipFill>
        </p:spPr>
      </p:sp>
      <p:grpSp>
        <p:nvGrpSpPr>
          <p:cNvPr name="Group 15" id="15"/>
          <p:cNvGrpSpPr/>
          <p:nvPr/>
        </p:nvGrpSpPr>
        <p:grpSpPr>
          <a:xfrm rot="2518158">
            <a:off x="14725319" y="3863366"/>
            <a:ext cx="4184293" cy="10172185"/>
            <a:chOff x="0" y="0"/>
            <a:chExt cx="1622238" cy="3943726"/>
          </a:xfrm>
        </p:grpSpPr>
        <p:sp>
          <p:nvSpPr>
            <p:cNvPr name="Freeform 16" id="16"/>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7" id="17"/>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8" id="18"/>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19" id="19"/>
          <p:cNvGrpSpPr/>
          <p:nvPr/>
        </p:nvGrpSpPr>
        <p:grpSpPr>
          <a:xfrm rot="2518158">
            <a:off x="16423857" y="5465352"/>
            <a:ext cx="3280102" cy="7974061"/>
            <a:chOff x="0" y="0"/>
            <a:chExt cx="1622238" cy="3943726"/>
          </a:xfrm>
        </p:grpSpPr>
        <p:sp>
          <p:nvSpPr>
            <p:cNvPr name="Freeform 20" id="20"/>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21" id="21"/>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22" id="22"/>
          <p:cNvSpPr txBox="true"/>
          <p:nvPr/>
        </p:nvSpPr>
        <p:spPr>
          <a:xfrm rot="0">
            <a:off x="1885262" y="5475827"/>
            <a:ext cx="10793688" cy="4418457"/>
          </a:xfrm>
          <a:prstGeom prst="rect">
            <a:avLst/>
          </a:prstGeom>
        </p:spPr>
        <p:txBody>
          <a:bodyPr anchor="t" rtlCol="false" tIns="0" lIns="0" bIns="0" rIns="0">
            <a:spAutoFit/>
          </a:bodyPr>
          <a:lstStyle/>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Estimate next year national emissions</a:t>
            </a:r>
          </a:p>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Identify countries with increasing or declining trends</a:t>
            </a:r>
          </a:p>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Support energy and climate planning</a:t>
            </a:r>
          </a:p>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Detect unusually large changes in emissions</a:t>
            </a:r>
          </a:p>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Prioritize countries for further investigation</a:t>
            </a:r>
          </a:p>
          <a:p>
            <a:pPr algn="l" marL="518160" indent="-259080" lvl="1">
              <a:lnSpc>
                <a:spcPts val="5064"/>
              </a:lnSpc>
              <a:buFont typeface="Arial"/>
              <a:buChar char="•"/>
            </a:pPr>
            <a:r>
              <a:rPr lang="en-US" sz="2400">
                <a:solidFill>
                  <a:srgbClr val="000000"/>
                </a:solidFill>
                <a:latin typeface="Poppins Light"/>
                <a:ea typeface="Poppins Light"/>
                <a:cs typeface="Poppins Light"/>
                <a:sym typeface="Poppins Light"/>
              </a:rPr>
              <a:t>Compare expected emissions across major emitters</a:t>
            </a:r>
          </a:p>
          <a:p>
            <a:pPr algn="l">
              <a:lnSpc>
                <a:spcPts val="5064"/>
              </a:lnSpc>
            </a:pPr>
          </a:p>
        </p:txBody>
      </p:sp>
      <p:sp>
        <p:nvSpPr>
          <p:cNvPr name="TextBox 23" id="23"/>
          <p:cNvSpPr txBox="true"/>
          <p:nvPr/>
        </p:nvSpPr>
        <p:spPr>
          <a:xfrm rot="0">
            <a:off x="1671989" y="1951466"/>
            <a:ext cx="9509412" cy="549788"/>
          </a:xfrm>
          <a:prstGeom prst="rect">
            <a:avLst/>
          </a:prstGeom>
        </p:spPr>
        <p:txBody>
          <a:bodyPr anchor="t" rtlCol="false" tIns="0" lIns="0" bIns="0" rIns="0">
            <a:spAutoFit/>
          </a:bodyPr>
          <a:lstStyle/>
          <a:p>
            <a:pPr algn="l">
              <a:lnSpc>
                <a:spcPts val="4251"/>
              </a:lnSpc>
            </a:pPr>
            <a:r>
              <a:rPr lang="en-US" sz="3900" b="true">
                <a:solidFill>
                  <a:srgbClr val="047650"/>
                </a:solidFill>
                <a:latin typeface="Garet Bold"/>
                <a:ea typeface="Garet Bold"/>
                <a:cs typeface="Garet Bold"/>
                <a:sym typeface="Garet Bold"/>
              </a:rPr>
              <a:t>MAIN</a:t>
            </a:r>
          </a:p>
        </p:txBody>
      </p:sp>
      <p:sp>
        <p:nvSpPr>
          <p:cNvPr name="TextBox 24" id="24"/>
          <p:cNvSpPr txBox="true"/>
          <p:nvPr/>
        </p:nvSpPr>
        <p:spPr>
          <a:xfrm rot="0">
            <a:off x="1951938" y="2701280"/>
            <a:ext cx="8271109" cy="1317625"/>
          </a:xfrm>
          <a:prstGeom prst="rect">
            <a:avLst/>
          </a:prstGeom>
        </p:spPr>
        <p:txBody>
          <a:bodyPr anchor="t" rtlCol="false" tIns="0" lIns="0" bIns="0" rIns="0">
            <a:spAutoFit/>
          </a:bodyPr>
          <a:lstStyle/>
          <a:p>
            <a:pPr algn="l">
              <a:lnSpc>
                <a:spcPts val="3499"/>
              </a:lnSpc>
            </a:pPr>
            <a:r>
              <a:rPr lang="en-US" sz="2499">
                <a:solidFill>
                  <a:srgbClr val="000000"/>
                </a:solidFill>
                <a:latin typeface="Poppins"/>
                <a:ea typeface="Poppins"/>
                <a:cs typeface="Poppins"/>
                <a:sym typeface="Poppins"/>
              </a:rPr>
              <a:t>Predict CO2 emissions based on socioeconomic, energy and economic variables in country-level CO₂ forecasting.</a:t>
            </a:r>
          </a:p>
        </p:txBody>
      </p:sp>
      <p:sp>
        <p:nvSpPr>
          <p:cNvPr name="TextBox 25" id="25"/>
          <p:cNvSpPr txBox="true"/>
          <p:nvPr/>
        </p:nvSpPr>
        <p:spPr>
          <a:xfrm rot="0">
            <a:off x="1671989" y="4841469"/>
            <a:ext cx="9509412" cy="549788"/>
          </a:xfrm>
          <a:prstGeom prst="rect">
            <a:avLst/>
          </a:prstGeom>
        </p:spPr>
        <p:txBody>
          <a:bodyPr anchor="t" rtlCol="false" tIns="0" lIns="0" bIns="0" rIns="0">
            <a:spAutoFit/>
          </a:bodyPr>
          <a:lstStyle/>
          <a:p>
            <a:pPr algn="l">
              <a:lnSpc>
                <a:spcPts val="4251"/>
              </a:lnSpc>
            </a:pPr>
            <a:r>
              <a:rPr lang="en-US" sz="3900" b="true">
                <a:solidFill>
                  <a:srgbClr val="047650"/>
                </a:solidFill>
                <a:latin typeface="Garet Bold"/>
                <a:ea typeface="Garet Bold"/>
                <a:cs typeface="Garet Bold"/>
                <a:sym typeface="Garet Bold"/>
              </a:rPr>
              <a:t>SPECIFIC OBJECTIVES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0">
            <a:off x="-588708" y="-117395"/>
            <a:ext cx="19585289" cy="1993246"/>
            <a:chOff x="0" y="0"/>
            <a:chExt cx="5158265" cy="524970"/>
          </a:xfrm>
        </p:grpSpPr>
        <p:sp>
          <p:nvSpPr>
            <p:cNvPr name="Freeform 3" id="3"/>
            <p:cNvSpPr/>
            <p:nvPr/>
          </p:nvSpPr>
          <p:spPr>
            <a:xfrm flipH="false" flipV="false" rot="0">
              <a:off x="0" y="0"/>
              <a:ext cx="5158265" cy="524970"/>
            </a:xfrm>
            <a:custGeom>
              <a:avLst/>
              <a:gdLst/>
              <a:ahLst/>
              <a:cxnLst/>
              <a:rect r="r" b="b" t="t" l="l"/>
              <a:pathLst>
                <a:path h="524970" w="5158265">
                  <a:moveTo>
                    <a:pt x="0" y="0"/>
                  </a:moveTo>
                  <a:lnTo>
                    <a:pt x="5158265" y="0"/>
                  </a:lnTo>
                  <a:lnTo>
                    <a:pt x="5158265" y="524970"/>
                  </a:lnTo>
                  <a:lnTo>
                    <a:pt x="0" y="524970"/>
                  </a:lnTo>
                  <a:close/>
                </a:path>
              </a:pathLst>
            </a:custGeom>
            <a:solidFill>
              <a:srgbClr val="047650"/>
            </a:solidFill>
          </p:spPr>
        </p:sp>
        <p:sp>
          <p:nvSpPr>
            <p:cNvPr name="TextBox 4" id="4"/>
            <p:cNvSpPr txBox="true"/>
            <p:nvPr/>
          </p:nvSpPr>
          <p:spPr>
            <a:xfrm>
              <a:off x="0" y="-38100"/>
              <a:ext cx="5158265" cy="563070"/>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02235" y="5052475"/>
            <a:ext cx="16866051" cy="3278339"/>
          </a:xfrm>
          <a:custGeom>
            <a:avLst/>
            <a:gdLst/>
            <a:ahLst/>
            <a:cxnLst/>
            <a:rect r="r" b="b" t="t" l="l"/>
            <a:pathLst>
              <a:path h="3278339" w="16866051">
                <a:moveTo>
                  <a:pt x="0" y="0"/>
                </a:moveTo>
                <a:lnTo>
                  <a:pt x="16866050" y="0"/>
                </a:lnTo>
                <a:lnTo>
                  <a:pt x="16866050" y="3278339"/>
                </a:lnTo>
                <a:lnTo>
                  <a:pt x="0" y="3278339"/>
                </a:lnTo>
                <a:lnTo>
                  <a:pt x="0" y="0"/>
                </a:lnTo>
                <a:close/>
              </a:path>
            </a:pathLst>
          </a:custGeom>
          <a:blipFill>
            <a:blip r:embed="rId2"/>
            <a:stretch>
              <a:fillRect l="0" t="0" r="0" b="0"/>
            </a:stretch>
          </a:blipFill>
        </p:spPr>
      </p:sp>
      <p:sp>
        <p:nvSpPr>
          <p:cNvPr name="Freeform 6" id="6"/>
          <p:cNvSpPr/>
          <p:nvPr/>
        </p:nvSpPr>
        <p:spPr>
          <a:xfrm flipH="false" flipV="false" rot="0">
            <a:off x="202235" y="2885566"/>
            <a:ext cx="14351996" cy="1838849"/>
          </a:xfrm>
          <a:custGeom>
            <a:avLst/>
            <a:gdLst/>
            <a:ahLst/>
            <a:cxnLst/>
            <a:rect r="r" b="b" t="t" l="l"/>
            <a:pathLst>
              <a:path h="1838849" w="14351996">
                <a:moveTo>
                  <a:pt x="0" y="0"/>
                </a:moveTo>
                <a:lnTo>
                  <a:pt x="14351996" y="0"/>
                </a:lnTo>
                <a:lnTo>
                  <a:pt x="14351996" y="1838850"/>
                </a:lnTo>
                <a:lnTo>
                  <a:pt x="0" y="1838850"/>
                </a:lnTo>
                <a:lnTo>
                  <a:pt x="0" y="0"/>
                </a:lnTo>
                <a:close/>
              </a:path>
            </a:pathLst>
          </a:custGeom>
          <a:blipFill>
            <a:blip r:embed="rId3"/>
            <a:stretch>
              <a:fillRect l="0" t="0" r="0" b="0"/>
            </a:stretch>
          </a:blipFill>
        </p:spPr>
      </p:sp>
      <p:grpSp>
        <p:nvGrpSpPr>
          <p:cNvPr name="Group 7" id="7"/>
          <p:cNvGrpSpPr/>
          <p:nvPr/>
        </p:nvGrpSpPr>
        <p:grpSpPr>
          <a:xfrm rot="-2587936">
            <a:off x="14631524" y="-2632454"/>
            <a:ext cx="4184293" cy="10172185"/>
            <a:chOff x="0" y="0"/>
            <a:chExt cx="1622238" cy="3943726"/>
          </a:xfrm>
        </p:grpSpPr>
        <p:sp>
          <p:nvSpPr>
            <p:cNvPr name="Freeform 8" id="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9" id="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7806094">
            <a:off x="10018306" y="1496322"/>
            <a:ext cx="7658409" cy="1200452"/>
          </a:xfrm>
          <a:custGeom>
            <a:avLst/>
            <a:gdLst/>
            <a:ahLst/>
            <a:cxnLst/>
            <a:rect r="r" b="b" t="t" l="l"/>
            <a:pathLst>
              <a:path h="1200452" w="7658409">
                <a:moveTo>
                  <a:pt x="0" y="0"/>
                </a:moveTo>
                <a:lnTo>
                  <a:pt x="7658410" y="0"/>
                </a:lnTo>
                <a:lnTo>
                  <a:pt x="7658410" y="1200452"/>
                </a:lnTo>
                <a:lnTo>
                  <a:pt x="0" y="1200452"/>
                </a:lnTo>
                <a:lnTo>
                  <a:pt x="0" y="0"/>
                </a:lnTo>
                <a:close/>
              </a:path>
            </a:pathLst>
          </a:custGeom>
          <a:blipFill>
            <a:blip r:embed="rId4">
              <a:alphaModFix amt="27000"/>
            </a:blip>
            <a:stretch>
              <a:fillRect l="0" t="-7252" r="-2830" b="-7252"/>
            </a:stretch>
          </a:blipFill>
        </p:spPr>
      </p:sp>
      <p:grpSp>
        <p:nvGrpSpPr>
          <p:cNvPr name="Group 11" id="11"/>
          <p:cNvGrpSpPr/>
          <p:nvPr/>
        </p:nvGrpSpPr>
        <p:grpSpPr>
          <a:xfrm rot="0">
            <a:off x="15247148" y="236348"/>
            <a:ext cx="10351611" cy="10351611"/>
            <a:chOff x="0" y="0"/>
            <a:chExt cx="812800" cy="812800"/>
          </a:xfrm>
        </p:grpSpPr>
        <p:sp>
          <p:nvSpPr>
            <p:cNvPr name="Freeform 12" id="12"/>
            <p:cNvSpPr/>
            <p:nvPr/>
          </p:nvSpPr>
          <p:spPr>
            <a:xfrm flipH="false" flipV="false" rot="0">
              <a:off x="17348" y="17348"/>
              <a:ext cx="778104" cy="778104"/>
            </a:xfrm>
            <a:custGeom>
              <a:avLst/>
              <a:gdLst/>
              <a:ahLst/>
              <a:cxnLst/>
              <a:rect r="r" b="b" t="t" l="l"/>
              <a:pathLst>
                <a:path h="778104" w="778104">
                  <a:moveTo>
                    <a:pt x="418667" y="12267"/>
                  </a:moveTo>
                  <a:lnTo>
                    <a:pt x="765837" y="359437"/>
                  </a:lnTo>
                  <a:cubicBezTo>
                    <a:pt x="773691" y="367291"/>
                    <a:pt x="778104" y="377944"/>
                    <a:pt x="778104" y="389052"/>
                  </a:cubicBezTo>
                  <a:cubicBezTo>
                    <a:pt x="778104" y="400160"/>
                    <a:pt x="773691" y="410813"/>
                    <a:pt x="765837" y="418667"/>
                  </a:cubicBezTo>
                  <a:lnTo>
                    <a:pt x="418667" y="765837"/>
                  </a:lnTo>
                  <a:cubicBezTo>
                    <a:pt x="410813" y="773691"/>
                    <a:pt x="400160" y="778104"/>
                    <a:pt x="389052" y="778104"/>
                  </a:cubicBezTo>
                  <a:cubicBezTo>
                    <a:pt x="377944" y="778104"/>
                    <a:pt x="367291" y="773691"/>
                    <a:pt x="359437" y="765837"/>
                  </a:cubicBezTo>
                  <a:lnTo>
                    <a:pt x="12267" y="418667"/>
                  </a:lnTo>
                  <a:cubicBezTo>
                    <a:pt x="4413" y="410813"/>
                    <a:pt x="0" y="400160"/>
                    <a:pt x="0" y="389052"/>
                  </a:cubicBezTo>
                  <a:cubicBezTo>
                    <a:pt x="0" y="377944"/>
                    <a:pt x="4413" y="367291"/>
                    <a:pt x="12267" y="359437"/>
                  </a:cubicBezTo>
                  <a:lnTo>
                    <a:pt x="359437" y="12267"/>
                  </a:lnTo>
                  <a:cubicBezTo>
                    <a:pt x="367291" y="4413"/>
                    <a:pt x="377944" y="0"/>
                    <a:pt x="389052" y="0"/>
                  </a:cubicBezTo>
                  <a:cubicBezTo>
                    <a:pt x="400160" y="0"/>
                    <a:pt x="410813" y="4413"/>
                    <a:pt x="418667" y="12267"/>
                  </a:cubicBezTo>
                  <a:close/>
                </a:path>
              </a:pathLst>
            </a:custGeom>
            <a:solidFill>
              <a:srgbClr val="FFFFFF"/>
            </a:solidFill>
          </p:spPr>
        </p:sp>
        <p:sp>
          <p:nvSpPr>
            <p:cNvPr name="TextBox 13" id="13"/>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grpSp>
        <p:nvGrpSpPr>
          <p:cNvPr name="Group 14" id="14"/>
          <p:cNvGrpSpPr/>
          <p:nvPr/>
        </p:nvGrpSpPr>
        <p:grpSpPr>
          <a:xfrm rot="0">
            <a:off x="15582963" y="750714"/>
            <a:ext cx="9322879" cy="9322879"/>
            <a:chOff x="0" y="0"/>
            <a:chExt cx="812800" cy="812800"/>
          </a:xfrm>
        </p:grpSpPr>
        <p:sp>
          <p:nvSpPr>
            <p:cNvPr name="Freeform 15" id="15"/>
            <p:cNvSpPr/>
            <p:nvPr/>
          </p:nvSpPr>
          <p:spPr>
            <a:xfrm flipH="false" flipV="false" rot="0">
              <a:off x="19262" y="19262"/>
              <a:ext cx="774275" cy="774275"/>
            </a:xfrm>
            <a:custGeom>
              <a:avLst/>
              <a:gdLst/>
              <a:ahLst/>
              <a:cxnLst/>
              <a:rect r="r" b="b" t="t" l="l"/>
              <a:pathLst>
                <a:path h="774275" w="774275">
                  <a:moveTo>
                    <a:pt x="420021" y="13621"/>
                  </a:moveTo>
                  <a:lnTo>
                    <a:pt x="760655" y="354255"/>
                  </a:lnTo>
                  <a:cubicBezTo>
                    <a:pt x="778816" y="372416"/>
                    <a:pt x="778816" y="401860"/>
                    <a:pt x="760655" y="420021"/>
                  </a:cubicBezTo>
                  <a:lnTo>
                    <a:pt x="420021" y="760655"/>
                  </a:lnTo>
                  <a:cubicBezTo>
                    <a:pt x="401860" y="778816"/>
                    <a:pt x="372416" y="778816"/>
                    <a:pt x="354255" y="760655"/>
                  </a:cubicBezTo>
                  <a:lnTo>
                    <a:pt x="13621" y="420021"/>
                  </a:lnTo>
                  <a:cubicBezTo>
                    <a:pt x="-4540" y="401860"/>
                    <a:pt x="-4540" y="372416"/>
                    <a:pt x="13621" y="354255"/>
                  </a:cubicBezTo>
                  <a:lnTo>
                    <a:pt x="354255" y="13621"/>
                  </a:lnTo>
                  <a:cubicBezTo>
                    <a:pt x="372416" y="-4540"/>
                    <a:pt x="401860" y="-4540"/>
                    <a:pt x="420021" y="13621"/>
                  </a:cubicBezTo>
                  <a:close/>
                </a:path>
              </a:pathLst>
            </a:custGeom>
            <a:blipFill>
              <a:blip r:embed="rId5"/>
              <a:stretch>
                <a:fillRect l="-50093" t="0" r="0" b="0"/>
              </a:stretch>
            </a:blipFill>
          </p:spPr>
        </p:sp>
      </p:grpSp>
      <p:sp>
        <p:nvSpPr>
          <p:cNvPr name="Freeform 16" id="16"/>
          <p:cNvSpPr/>
          <p:nvPr/>
        </p:nvSpPr>
        <p:spPr>
          <a:xfrm flipH="false" flipV="false" rot="-7806094">
            <a:off x="14034241" y="1275625"/>
            <a:ext cx="5477894" cy="1200452"/>
          </a:xfrm>
          <a:custGeom>
            <a:avLst/>
            <a:gdLst/>
            <a:ahLst/>
            <a:cxnLst/>
            <a:rect r="r" b="b" t="t" l="l"/>
            <a:pathLst>
              <a:path h="1200452" w="5477894">
                <a:moveTo>
                  <a:pt x="0" y="0"/>
                </a:moveTo>
                <a:lnTo>
                  <a:pt x="5477894" y="0"/>
                </a:lnTo>
                <a:lnTo>
                  <a:pt x="5477894" y="1200452"/>
                </a:lnTo>
                <a:lnTo>
                  <a:pt x="0" y="1200452"/>
                </a:lnTo>
                <a:lnTo>
                  <a:pt x="0" y="0"/>
                </a:lnTo>
                <a:close/>
              </a:path>
            </a:pathLst>
          </a:custGeom>
          <a:blipFill>
            <a:blip r:embed="rId4">
              <a:alphaModFix amt="27000"/>
            </a:blip>
            <a:stretch>
              <a:fillRect l="-22095" t="0" r="-3456" b="0"/>
            </a:stretch>
          </a:blipFill>
        </p:spPr>
      </p:sp>
      <p:grpSp>
        <p:nvGrpSpPr>
          <p:cNvPr name="Group 17" id="17"/>
          <p:cNvGrpSpPr/>
          <p:nvPr/>
        </p:nvGrpSpPr>
        <p:grpSpPr>
          <a:xfrm rot="-2587936">
            <a:off x="15934215" y="-3293537"/>
            <a:ext cx="3280102" cy="7974061"/>
            <a:chOff x="0" y="0"/>
            <a:chExt cx="1622238" cy="3943726"/>
          </a:xfrm>
        </p:grpSpPr>
        <p:sp>
          <p:nvSpPr>
            <p:cNvPr name="Freeform 18" id="1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9" id="1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0" id="20"/>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6"/>
            <a:stretch>
              <a:fillRect l="-105286" t="0" r="-14595" b="0"/>
            </a:stretch>
          </a:blipFill>
        </p:spPr>
      </p:sp>
      <p:grpSp>
        <p:nvGrpSpPr>
          <p:cNvPr name="Group 21" id="21"/>
          <p:cNvGrpSpPr/>
          <p:nvPr/>
        </p:nvGrpSpPr>
        <p:grpSpPr>
          <a:xfrm rot="7918158">
            <a:off x="-136144" y="6856153"/>
            <a:ext cx="2182873" cy="5306652"/>
            <a:chOff x="0" y="0"/>
            <a:chExt cx="1622238" cy="3943726"/>
          </a:xfrm>
        </p:grpSpPr>
        <p:sp>
          <p:nvSpPr>
            <p:cNvPr name="Freeform 22" id="22"/>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23" id="23"/>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24" id="24"/>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4">
              <a:alphaModFix amt="27000"/>
            </a:blip>
            <a:stretch>
              <a:fillRect l="-22095" t="0" r="-3456" b="0"/>
            </a:stretch>
          </a:blipFill>
        </p:spPr>
      </p:sp>
      <p:grpSp>
        <p:nvGrpSpPr>
          <p:cNvPr name="Group 25" id="25"/>
          <p:cNvGrpSpPr/>
          <p:nvPr/>
        </p:nvGrpSpPr>
        <p:grpSpPr>
          <a:xfrm rot="7918158">
            <a:off x="-264006" y="8382289"/>
            <a:ext cx="1711172" cy="4159929"/>
            <a:chOff x="0" y="0"/>
            <a:chExt cx="1622238" cy="3943726"/>
          </a:xfrm>
        </p:grpSpPr>
        <p:sp>
          <p:nvSpPr>
            <p:cNvPr name="Freeform 26" id="26"/>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27" id="27"/>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28" id="28"/>
          <p:cNvSpPr txBox="true"/>
          <p:nvPr/>
        </p:nvSpPr>
        <p:spPr>
          <a:xfrm rot="0">
            <a:off x="3246514" y="8339933"/>
            <a:ext cx="14327752" cy="3392481"/>
          </a:xfrm>
          <a:prstGeom prst="rect">
            <a:avLst/>
          </a:prstGeom>
        </p:spPr>
        <p:txBody>
          <a:bodyPr anchor="t" rtlCol="false" tIns="0" lIns="0" bIns="0" rIns="0">
            <a:spAutoFit/>
          </a:bodyPr>
          <a:lstStyle/>
          <a:p>
            <a:pPr algn="l">
              <a:lnSpc>
                <a:spcPts val="3655"/>
              </a:lnSpc>
            </a:pPr>
            <a:r>
              <a:rPr lang="en-US" sz="2404" b="true">
                <a:solidFill>
                  <a:srgbClr val="000000"/>
                </a:solidFill>
                <a:latin typeface="Poppins Bold"/>
                <a:ea typeface="Poppins Bold"/>
                <a:cs typeface="Poppins Bold"/>
                <a:sym typeface="Poppins Bold"/>
              </a:rPr>
              <a:t>The target variable: CO2 </a:t>
            </a:r>
          </a:p>
          <a:p>
            <a:pPr algn="l">
              <a:lnSpc>
                <a:spcPts val="3351"/>
              </a:lnSpc>
            </a:pPr>
            <a:r>
              <a:rPr lang="en-US" sz="2204">
                <a:solidFill>
                  <a:srgbClr val="000000"/>
                </a:solidFill>
                <a:latin typeface="Poppins Light"/>
                <a:ea typeface="Poppins Light"/>
                <a:cs typeface="Poppins Light"/>
                <a:sym typeface="Poppins Light"/>
              </a:rPr>
              <a:t>because the purpose of the project is to forecast future national emissions. CO₂ is a measurable environmental outcome influenced by economic activity, population, energy consumption, and fuel use.</a:t>
            </a:r>
          </a:p>
          <a:p>
            <a:pPr algn="l">
              <a:lnSpc>
                <a:spcPts val="3351"/>
              </a:lnSpc>
            </a:pPr>
          </a:p>
          <a:p>
            <a:pPr algn="l">
              <a:lnSpc>
                <a:spcPts val="3351"/>
              </a:lnSpc>
            </a:pPr>
          </a:p>
          <a:p>
            <a:pPr algn="l">
              <a:lnSpc>
                <a:spcPts val="3351"/>
              </a:lnSpc>
            </a:pPr>
            <a:r>
              <a:rPr lang="en-US" sz="2204">
                <a:solidFill>
                  <a:srgbClr val="000000"/>
                </a:solidFill>
                <a:latin typeface="Poppins Light"/>
                <a:ea typeface="Poppins Light"/>
                <a:cs typeface="Poppins Light"/>
                <a:sym typeface="Poppins Light"/>
              </a:rPr>
              <a:t>.</a:t>
            </a:r>
          </a:p>
          <a:p>
            <a:pPr algn="l">
              <a:lnSpc>
                <a:spcPts val="3351"/>
              </a:lnSpc>
            </a:pPr>
          </a:p>
        </p:txBody>
      </p:sp>
      <p:sp>
        <p:nvSpPr>
          <p:cNvPr name="TextBox 29" id="29"/>
          <p:cNvSpPr txBox="true"/>
          <p:nvPr/>
        </p:nvSpPr>
        <p:spPr>
          <a:xfrm rot="0">
            <a:off x="114051" y="264852"/>
            <a:ext cx="14701296" cy="1057448"/>
          </a:xfrm>
          <a:prstGeom prst="rect">
            <a:avLst/>
          </a:prstGeom>
        </p:spPr>
        <p:txBody>
          <a:bodyPr anchor="t" rtlCol="false" tIns="0" lIns="0" bIns="0" rIns="0">
            <a:spAutoFit/>
          </a:bodyPr>
          <a:lstStyle/>
          <a:p>
            <a:pPr algn="l">
              <a:lnSpc>
                <a:spcPts val="8188"/>
              </a:lnSpc>
            </a:pPr>
            <a:r>
              <a:rPr lang="en-US" sz="7512" b="true">
                <a:solidFill>
                  <a:srgbClr val="F7FBFF"/>
                </a:solidFill>
                <a:latin typeface="Garet Bold"/>
                <a:ea typeface="Garet Bold"/>
                <a:cs typeface="Garet Bold"/>
                <a:sym typeface="Garet Bold"/>
              </a:rPr>
              <a:t>DATA UNDERSTANDING</a:t>
            </a:r>
          </a:p>
        </p:txBody>
      </p:sp>
      <p:sp>
        <p:nvSpPr>
          <p:cNvPr name="TextBox 30" id="30"/>
          <p:cNvSpPr txBox="true"/>
          <p:nvPr/>
        </p:nvSpPr>
        <p:spPr>
          <a:xfrm rot="0">
            <a:off x="0" y="2229166"/>
            <a:ext cx="14524930" cy="39179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Poppins"/>
                <a:ea typeface="Poppins"/>
                <a:cs typeface="Poppins"/>
                <a:sym typeface="Poppins"/>
              </a:rPr>
              <a:t>The dataset cointains: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0">
            <a:off x="-648645" y="0"/>
            <a:ext cx="19585289" cy="1985529"/>
            <a:chOff x="0" y="0"/>
            <a:chExt cx="5158265" cy="522938"/>
          </a:xfrm>
        </p:grpSpPr>
        <p:sp>
          <p:nvSpPr>
            <p:cNvPr name="Freeform 3" id="3"/>
            <p:cNvSpPr/>
            <p:nvPr/>
          </p:nvSpPr>
          <p:spPr>
            <a:xfrm flipH="false" flipV="false" rot="0">
              <a:off x="0" y="0"/>
              <a:ext cx="5158265" cy="522938"/>
            </a:xfrm>
            <a:custGeom>
              <a:avLst/>
              <a:gdLst/>
              <a:ahLst/>
              <a:cxnLst/>
              <a:rect r="r" b="b" t="t" l="l"/>
              <a:pathLst>
                <a:path h="522938" w="5158265">
                  <a:moveTo>
                    <a:pt x="0" y="0"/>
                  </a:moveTo>
                  <a:lnTo>
                    <a:pt x="5158265" y="0"/>
                  </a:lnTo>
                  <a:lnTo>
                    <a:pt x="5158265" y="522938"/>
                  </a:lnTo>
                  <a:lnTo>
                    <a:pt x="0" y="522938"/>
                  </a:lnTo>
                  <a:close/>
                </a:path>
              </a:pathLst>
            </a:custGeom>
            <a:solidFill>
              <a:srgbClr val="047650"/>
            </a:solidFill>
          </p:spPr>
        </p:sp>
        <p:sp>
          <p:nvSpPr>
            <p:cNvPr name="TextBox 4" id="4"/>
            <p:cNvSpPr txBox="true"/>
            <p:nvPr/>
          </p:nvSpPr>
          <p:spPr>
            <a:xfrm>
              <a:off x="0" y="-38100"/>
              <a:ext cx="5158265" cy="56103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151328" y="394272"/>
            <a:ext cx="16524819" cy="1067846"/>
          </a:xfrm>
          <a:prstGeom prst="rect">
            <a:avLst/>
          </a:prstGeom>
        </p:spPr>
        <p:txBody>
          <a:bodyPr anchor="t" rtlCol="false" tIns="0" lIns="0" bIns="0" rIns="0">
            <a:spAutoFit/>
          </a:bodyPr>
          <a:lstStyle/>
          <a:p>
            <a:pPr algn="l">
              <a:lnSpc>
                <a:spcPts val="8256"/>
              </a:lnSpc>
            </a:pPr>
            <a:r>
              <a:rPr lang="en-US" sz="7574" b="true">
                <a:solidFill>
                  <a:srgbClr val="F7FBFF"/>
                </a:solidFill>
                <a:latin typeface="Garet Bold"/>
                <a:ea typeface="Garet Bold"/>
                <a:cs typeface="Garet Bold"/>
                <a:sym typeface="Garet Bold"/>
              </a:rPr>
              <a:t>DATA CLEANING</a:t>
            </a:r>
          </a:p>
        </p:txBody>
      </p:sp>
      <p:grpSp>
        <p:nvGrpSpPr>
          <p:cNvPr name="Group 6" id="6"/>
          <p:cNvGrpSpPr/>
          <p:nvPr/>
        </p:nvGrpSpPr>
        <p:grpSpPr>
          <a:xfrm rot="0">
            <a:off x="16443260" y="-673493"/>
            <a:ext cx="3404387" cy="3404387"/>
            <a:chOff x="0" y="0"/>
            <a:chExt cx="812800" cy="812800"/>
          </a:xfrm>
        </p:grpSpPr>
        <p:sp>
          <p:nvSpPr>
            <p:cNvPr name="Freeform 7" id="7"/>
            <p:cNvSpPr/>
            <p:nvPr/>
          </p:nvSpPr>
          <p:spPr>
            <a:xfrm flipH="false" flipV="false" rot="0">
              <a:off x="52750" y="52750"/>
              <a:ext cx="707300" cy="707300"/>
            </a:xfrm>
            <a:custGeom>
              <a:avLst/>
              <a:gdLst/>
              <a:ahLst/>
              <a:cxnLst/>
              <a:rect r="r" b="b" t="t" l="l"/>
              <a:pathLst>
                <a:path h="707300" w="707300">
                  <a:moveTo>
                    <a:pt x="443700" y="37300"/>
                  </a:moveTo>
                  <a:lnTo>
                    <a:pt x="670000" y="263600"/>
                  </a:lnTo>
                  <a:cubicBezTo>
                    <a:pt x="693883" y="287483"/>
                    <a:pt x="707300" y="319875"/>
                    <a:pt x="707300" y="353650"/>
                  </a:cubicBezTo>
                  <a:cubicBezTo>
                    <a:pt x="707300" y="387425"/>
                    <a:pt x="693883" y="419817"/>
                    <a:pt x="670000" y="443700"/>
                  </a:cubicBezTo>
                  <a:lnTo>
                    <a:pt x="443700" y="670000"/>
                  </a:lnTo>
                  <a:cubicBezTo>
                    <a:pt x="419817" y="693883"/>
                    <a:pt x="387425" y="707300"/>
                    <a:pt x="353650" y="707300"/>
                  </a:cubicBezTo>
                  <a:cubicBezTo>
                    <a:pt x="319875" y="707300"/>
                    <a:pt x="287483" y="693883"/>
                    <a:pt x="263600" y="670000"/>
                  </a:cubicBezTo>
                  <a:lnTo>
                    <a:pt x="37300" y="443700"/>
                  </a:lnTo>
                  <a:cubicBezTo>
                    <a:pt x="13417" y="419817"/>
                    <a:pt x="0" y="387425"/>
                    <a:pt x="0" y="353650"/>
                  </a:cubicBezTo>
                  <a:cubicBezTo>
                    <a:pt x="0" y="319875"/>
                    <a:pt x="13417" y="287483"/>
                    <a:pt x="37300" y="263600"/>
                  </a:cubicBezTo>
                  <a:lnTo>
                    <a:pt x="263600" y="37300"/>
                  </a:lnTo>
                  <a:cubicBezTo>
                    <a:pt x="287483" y="13417"/>
                    <a:pt x="319875" y="0"/>
                    <a:pt x="353650" y="0"/>
                  </a:cubicBezTo>
                  <a:cubicBezTo>
                    <a:pt x="387425" y="0"/>
                    <a:pt x="419817" y="13417"/>
                    <a:pt x="443700" y="37300"/>
                  </a:cubicBezTo>
                  <a:close/>
                </a:path>
              </a:pathLst>
            </a:custGeom>
            <a:solidFill>
              <a:srgbClr val="FFFFFF"/>
            </a:solidFill>
          </p:spPr>
        </p:sp>
        <p:sp>
          <p:nvSpPr>
            <p:cNvPr name="TextBox 8" id="8"/>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sp>
        <p:nvSpPr>
          <p:cNvPr name="Freeform 9" id="9"/>
          <p:cNvSpPr/>
          <p:nvPr/>
        </p:nvSpPr>
        <p:spPr>
          <a:xfrm flipH="false" flipV="false" rot="0">
            <a:off x="185539" y="2550537"/>
            <a:ext cx="17959914" cy="5185925"/>
          </a:xfrm>
          <a:custGeom>
            <a:avLst/>
            <a:gdLst/>
            <a:ahLst/>
            <a:cxnLst/>
            <a:rect r="r" b="b" t="t" l="l"/>
            <a:pathLst>
              <a:path h="5185925" w="17959914">
                <a:moveTo>
                  <a:pt x="0" y="0"/>
                </a:moveTo>
                <a:lnTo>
                  <a:pt x="17959914" y="0"/>
                </a:lnTo>
                <a:lnTo>
                  <a:pt x="17959914" y="5185926"/>
                </a:lnTo>
                <a:lnTo>
                  <a:pt x="0" y="5185926"/>
                </a:lnTo>
                <a:lnTo>
                  <a:pt x="0" y="0"/>
                </a:lnTo>
                <a:close/>
              </a:path>
            </a:pathLst>
          </a:custGeom>
          <a:blipFill>
            <a:blip r:embed="rId2"/>
            <a:stretch>
              <a:fillRect l="0" t="0" r="0" b="0"/>
            </a:stretch>
          </a:blipFill>
        </p:spPr>
      </p:sp>
      <p:sp>
        <p:nvSpPr>
          <p:cNvPr name="TextBox 10" id="10"/>
          <p:cNvSpPr txBox="true"/>
          <p:nvPr/>
        </p:nvSpPr>
        <p:spPr>
          <a:xfrm rot="0">
            <a:off x="185539" y="8341061"/>
            <a:ext cx="14391629" cy="1170249"/>
          </a:xfrm>
          <a:prstGeom prst="rect">
            <a:avLst/>
          </a:prstGeom>
        </p:spPr>
        <p:txBody>
          <a:bodyPr anchor="t" rtlCol="false" tIns="0" lIns="0" bIns="0" rIns="0">
            <a:spAutoFit/>
          </a:bodyPr>
          <a:lstStyle/>
          <a:p>
            <a:pPr algn="l">
              <a:lnSpc>
                <a:spcPts val="2873"/>
              </a:lnSpc>
            </a:pPr>
            <a:r>
              <a:rPr lang="en-US" sz="2052">
                <a:solidFill>
                  <a:srgbClr val="000000"/>
                </a:solidFill>
                <a:latin typeface="Poppins Light"/>
                <a:ea typeface="Poppins Light"/>
                <a:cs typeface="Poppins Light"/>
                <a:sym typeface="Poppins Light"/>
              </a:rPr>
              <a:t>infinite values converted to NaN; correlation used only as an exploratory screen, never as proof of causation.</a:t>
            </a:r>
          </a:p>
          <a:p>
            <a:pPr algn="l">
              <a:lnSpc>
                <a:spcPts val="2873"/>
              </a:lnSpc>
            </a:pPr>
          </a:p>
          <a:p>
            <a:pPr algn="l">
              <a:lnSpc>
                <a:spcPts val="357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0" y="1990015"/>
            <a:ext cx="13203785" cy="6991020"/>
          </a:xfrm>
          <a:custGeom>
            <a:avLst/>
            <a:gdLst/>
            <a:ahLst/>
            <a:cxnLst/>
            <a:rect r="r" b="b" t="t" l="l"/>
            <a:pathLst>
              <a:path h="6991020" w="13203785">
                <a:moveTo>
                  <a:pt x="0" y="0"/>
                </a:moveTo>
                <a:lnTo>
                  <a:pt x="13203785" y="0"/>
                </a:lnTo>
                <a:lnTo>
                  <a:pt x="13203785" y="6991020"/>
                </a:lnTo>
                <a:lnTo>
                  <a:pt x="0" y="6991020"/>
                </a:lnTo>
                <a:lnTo>
                  <a:pt x="0" y="0"/>
                </a:lnTo>
                <a:close/>
              </a:path>
            </a:pathLst>
          </a:custGeom>
          <a:blipFill>
            <a:blip r:embed="rId2"/>
            <a:stretch>
              <a:fillRect l="0" t="-902" r="-444" b="-250"/>
            </a:stretch>
          </a:blipFill>
        </p:spPr>
      </p:sp>
      <p:sp>
        <p:nvSpPr>
          <p:cNvPr name="Freeform 3" id="3"/>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4" id="4"/>
          <p:cNvGrpSpPr/>
          <p:nvPr/>
        </p:nvGrpSpPr>
        <p:grpSpPr>
          <a:xfrm rot="7918158">
            <a:off x="-264006" y="8382289"/>
            <a:ext cx="1711172" cy="4159929"/>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grpSp>
        <p:nvGrpSpPr>
          <p:cNvPr name="Group 7" id="7"/>
          <p:cNvGrpSpPr/>
          <p:nvPr/>
        </p:nvGrpSpPr>
        <p:grpSpPr>
          <a:xfrm rot="0">
            <a:off x="-1297289" y="-37056"/>
            <a:ext cx="19585289" cy="1790662"/>
            <a:chOff x="0" y="0"/>
            <a:chExt cx="5158265" cy="471615"/>
          </a:xfrm>
        </p:grpSpPr>
        <p:sp>
          <p:nvSpPr>
            <p:cNvPr name="Freeform 8" id="8"/>
            <p:cNvSpPr/>
            <p:nvPr/>
          </p:nvSpPr>
          <p:spPr>
            <a:xfrm flipH="false" flipV="false" rot="0">
              <a:off x="0" y="0"/>
              <a:ext cx="5158265" cy="471615"/>
            </a:xfrm>
            <a:custGeom>
              <a:avLst/>
              <a:gdLst/>
              <a:ahLst/>
              <a:cxnLst/>
              <a:rect r="r" b="b" t="t" l="l"/>
              <a:pathLst>
                <a:path h="471615" w="5158265">
                  <a:moveTo>
                    <a:pt x="0" y="0"/>
                  </a:moveTo>
                  <a:lnTo>
                    <a:pt x="5158265" y="0"/>
                  </a:lnTo>
                  <a:lnTo>
                    <a:pt x="5158265" y="471615"/>
                  </a:lnTo>
                  <a:lnTo>
                    <a:pt x="0" y="471615"/>
                  </a:lnTo>
                  <a:close/>
                </a:path>
              </a:pathLst>
            </a:custGeom>
            <a:solidFill>
              <a:srgbClr val="047650"/>
            </a:solidFill>
          </p:spPr>
        </p:sp>
        <p:sp>
          <p:nvSpPr>
            <p:cNvPr name="TextBox 9" id="9"/>
            <p:cNvSpPr txBox="true"/>
            <p:nvPr/>
          </p:nvSpPr>
          <p:spPr>
            <a:xfrm>
              <a:off x="0" y="-38100"/>
              <a:ext cx="5158265" cy="509715"/>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8100000">
            <a:off x="15687264" y="-2312989"/>
            <a:ext cx="1158687" cy="6457414"/>
          </a:xfrm>
          <a:custGeom>
            <a:avLst/>
            <a:gdLst/>
            <a:ahLst/>
            <a:cxnLst/>
            <a:rect r="r" b="b" t="t" l="l"/>
            <a:pathLst>
              <a:path h="6457414" w="1158687">
                <a:moveTo>
                  <a:pt x="0" y="0"/>
                </a:moveTo>
                <a:lnTo>
                  <a:pt x="1158687" y="0"/>
                </a:lnTo>
                <a:lnTo>
                  <a:pt x="1158687" y="6457414"/>
                </a:lnTo>
                <a:lnTo>
                  <a:pt x="0" y="6457414"/>
                </a:lnTo>
                <a:lnTo>
                  <a:pt x="0" y="0"/>
                </a:lnTo>
                <a:close/>
              </a:path>
            </a:pathLst>
          </a:custGeom>
          <a:blipFill>
            <a:blip r:embed="rId4"/>
            <a:stretch>
              <a:fillRect l="-105286" t="0" r="-14595" b="0"/>
            </a:stretch>
          </a:blipFill>
        </p:spPr>
      </p:sp>
      <p:grpSp>
        <p:nvGrpSpPr>
          <p:cNvPr name="Group 11" id="11"/>
          <p:cNvGrpSpPr/>
          <p:nvPr/>
        </p:nvGrpSpPr>
        <p:grpSpPr>
          <a:xfrm rot="-2881841">
            <a:off x="16031627" y="-1737608"/>
            <a:ext cx="2182873" cy="5306652"/>
            <a:chOff x="0" y="0"/>
            <a:chExt cx="1622238" cy="3943726"/>
          </a:xfrm>
        </p:grpSpPr>
        <p:sp>
          <p:nvSpPr>
            <p:cNvPr name="Freeform 12" id="12"/>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3" id="13"/>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4" id="14"/>
          <p:cNvSpPr/>
          <p:nvPr/>
        </p:nvSpPr>
        <p:spPr>
          <a:xfrm flipH="false" flipV="false" rot="-8100000">
            <a:off x="15565727" y="484500"/>
            <a:ext cx="3431466" cy="751988"/>
          </a:xfrm>
          <a:custGeom>
            <a:avLst/>
            <a:gdLst/>
            <a:ahLst/>
            <a:cxnLst/>
            <a:rect r="r" b="b" t="t" l="l"/>
            <a:pathLst>
              <a:path h="751988" w="3431466">
                <a:moveTo>
                  <a:pt x="0" y="0"/>
                </a:moveTo>
                <a:lnTo>
                  <a:pt x="3431466" y="0"/>
                </a:lnTo>
                <a:lnTo>
                  <a:pt x="3431466" y="751989"/>
                </a:lnTo>
                <a:lnTo>
                  <a:pt x="0" y="751989"/>
                </a:lnTo>
                <a:lnTo>
                  <a:pt x="0" y="0"/>
                </a:lnTo>
                <a:close/>
              </a:path>
            </a:pathLst>
          </a:custGeom>
          <a:blipFill>
            <a:blip r:embed="rId3">
              <a:alphaModFix amt="27000"/>
            </a:blip>
            <a:stretch>
              <a:fillRect l="-22095" t="0" r="-3456" b="0"/>
            </a:stretch>
          </a:blipFill>
        </p:spPr>
      </p:sp>
      <p:grpSp>
        <p:nvGrpSpPr>
          <p:cNvPr name="Group 15" id="15"/>
          <p:cNvGrpSpPr/>
          <p:nvPr/>
        </p:nvGrpSpPr>
        <p:grpSpPr>
          <a:xfrm rot="-2881841">
            <a:off x="16631190" y="-2117020"/>
            <a:ext cx="1711172" cy="4159929"/>
            <a:chOff x="0" y="0"/>
            <a:chExt cx="1622238" cy="3943726"/>
          </a:xfrm>
        </p:grpSpPr>
        <p:sp>
          <p:nvSpPr>
            <p:cNvPr name="Freeform 16" id="16"/>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7" id="17"/>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8" id="18"/>
          <p:cNvSpPr txBox="true"/>
          <p:nvPr/>
        </p:nvSpPr>
        <p:spPr>
          <a:xfrm rot="0">
            <a:off x="13358419" y="3444420"/>
            <a:ext cx="4929581" cy="5493964"/>
          </a:xfrm>
          <a:prstGeom prst="rect">
            <a:avLst/>
          </a:prstGeom>
        </p:spPr>
        <p:txBody>
          <a:bodyPr anchor="t" rtlCol="false" tIns="0" lIns="0" bIns="0" rIns="0">
            <a:spAutoFit/>
          </a:bodyPr>
          <a:lstStyle/>
          <a:p>
            <a:pPr algn="l">
              <a:lnSpc>
                <a:spcPts val="2733"/>
              </a:lnSpc>
            </a:pPr>
            <a:r>
              <a:rPr lang="en-US" sz="1952">
                <a:solidFill>
                  <a:srgbClr val="000000"/>
                </a:solidFill>
                <a:latin typeface="Poppins Light"/>
                <a:ea typeface="Poppins Light"/>
                <a:cs typeface="Poppins Light"/>
                <a:sym typeface="Poppins Light"/>
              </a:rPr>
              <a:t>Global CO₂ emissions show a strong long-term upward trend, rising substantially from 1950 </a:t>
            </a:r>
          </a:p>
          <a:p>
            <a:pPr algn="l">
              <a:lnSpc>
                <a:spcPts val="2733"/>
              </a:lnSpc>
            </a:pPr>
            <a:r>
              <a:rPr lang="en-US" sz="1952">
                <a:solidFill>
                  <a:srgbClr val="000000"/>
                </a:solidFill>
                <a:latin typeface="Poppins Light"/>
                <a:ea typeface="Poppins Light"/>
                <a:cs typeface="Poppins Light"/>
                <a:sym typeface="Poppins Light"/>
              </a:rPr>
              <a:t>to the most recent years. </a:t>
            </a:r>
          </a:p>
          <a:p>
            <a:pPr algn="l">
              <a:lnSpc>
                <a:spcPts val="2733"/>
              </a:lnSpc>
            </a:pPr>
          </a:p>
          <a:p>
            <a:pPr algn="l">
              <a:lnSpc>
                <a:spcPts val="2733"/>
              </a:lnSpc>
            </a:pPr>
            <a:r>
              <a:rPr lang="en-US" sz="1952">
                <a:solidFill>
                  <a:srgbClr val="000000"/>
                </a:solidFill>
                <a:latin typeface="Poppins Light"/>
                <a:ea typeface="Poppins Light"/>
                <a:cs typeface="Poppins Light"/>
                <a:sym typeface="Poppins Light"/>
              </a:rPr>
              <a:t>The main noticeable declines </a:t>
            </a:r>
          </a:p>
          <a:p>
            <a:pPr algn="l">
              <a:lnSpc>
                <a:spcPts val="2733"/>
              </a:lnSpc>
            </a:pPr>
            <a:r>
              <a:rPr lang="en-US" sz="1952">
                <a:solidFill>
                  <a:srgbClr val="000000"/>
                </a:solidFill>
                <a:latin typeface="Poppins Light"/>
                <a:ea typeface="Poppins Light"/>
                <a:cs typeface="Poppins Light"/>
                <a:sym typeface="Poppins Light"/>
              </a:rPr>
              <a:t>occur around the early 1980s and early 1990s, due to economic slowdowns and reduced energy demand. A sharper decline occurs around 2009 due to global financial crisis, while the largest recent drop is around 2020, largely due to COVID-19 that reduced transportation, industrial activity, and energy use.</a:t>
            </a:r>
          </a:p>
          <a:p>
            <a:pPr algn="l">
              <a:lnSpc>
                <a:spcPts val="2733"/>
              </a:lnSpc>
            </a:pPr>
          </a:p>
        </p:txBody>
      </p:sp>
      <p:sp>
        <p:nvSpPr>
          <p:cNvPr name="TextBox 19" id="19"/>
          <p:cNvSpPr txBox="true"/>
          <p:nvPr/>
        </p:nvSpPr>
        <p:spPr>
          <a:xfrm rot="0">
            <a:off x="0" y="281988"/>
            <a:ext cx="14701296" cy="951022"/>
          </a:xfrm>
          <a:prstGeom prst="rect">
            <a:avLst/>
          </a:prstGeom>
        </p:spPr>
        <p:txBody>
          <a:bodyPr anchor="t" rtlCol="false" tIns="0" lIns="0" bIns="0" rIns="0">
            <a:spAutoFit/>
          </a:bodyPr>
          <a:lstStyle/>
          <a:p>
            <a:pPr algn="l">
              <a:lnSpc>
                <a:spcPts val="7316"/>
              </a:lnSpc>
            </a:pPr>
            <a:r>
              <a:rPr lang="en-US" sz="6712" b="true">
                <a:solidFill>
                  <a:srgbClr val="F7FBFF"/>
                </a:solidFill>
                <a:latin typeface="Garet Bold"/>
                <a:ea typeface="Garet Bold"/>
                <a:cs typeface="Garet Bold"/>
                <a:sym typeface="Garet Bold"/>
              </a:rPr>
              <a:t>EXPLORATORY DATA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202199" y="282002"/>
            <a:ext cx="15600186" cy="7743977"/>
          </a:xfrm>
          <a:custGeom>
            <a:avLst/>
            <a:gdLst/>
            <a:ahLst/>
            <a:cxnLst/>
            <a:rect r="r" b="b" t="t" l="l"/>
            <a:pathLst>
              <a:path h="7743977" w="15600186">
                <a:moveTo>
                  <a:pt x="0" y="0"/>
                </a:moveTo>
                <a:lnTo>
                  <a:pt x="15600186" y="0"/>
                </a:lnTo>
                <a:lnTo>
                  <a:pt x="15600186" y="7743978"/>
                </a:lnTo>
                <a:lnTo>
                  <a:pt x="0" y="7743978"/>
                </a:lnTo>
                <a:lnTo>
                  <a:pt x="0" y="0"/>
                </a:lnTo>
                <a:close/>
              </a:path>
            </a:pathLst>
          </a:custGeom>
          <a:blipFill>
            <a:blip r:embed="rId2"/>
            <a:stretch>
              <a:fillRect l="0" t="0" r="0" b="0"/>
            </a:stretch>
          </a:blipFill>
        </p:spPr>
      </p:sp>
      <p:sp>
        <p:nvSpPr>
          <p:cNvPr name="Freeform 3" id="3"/>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3"/>
            <a:stretch>
              <a:fillRect l="-105286" t="0" r="-14595" b="0"/>
            </a:stretch>
          </a:blipFill>
        </p:spPr>
      </p:sp>
      <p:grpSp>
        <p:nvGrpSpPr>
          <p:cNvPr name="Group 4" id="4"/>
          <p:cNvGrpSpPr/>
          <p:nvPr/>
        </p:nvGrpSpPr>
        <p:grpSpPr>
          <a:xfrm rot="7918158">
            <a:off x="-136144" y="685615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4">
              <a:alphaModFix amt="27000"/>
            </a:blip>
            <a:stretch>
              <a:fillRect l="-22095" t="0" r="-3456" b="0"/>
            </a:stretch>
          </a:blipFill>
        </p:spPr>
      </p:sp>
      <p:grpSp>
        <p:nvGrpSpPr>
          <p:cNvPr name="Group 8" id="8"/>
          <p:cNvGrpSpPr/>
          <p:nvPr/>
        </p:nvGrpSpPr>
        <p:grpSpPr>
          <a:xfrm rot="7918158">
            <a:off x="-264006" y="8382289"/>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1" id="11"/>
          <p:cNvSpPr/>
          <p:nvPr/>
        </p:nvSpPr>
        <p:spPr>
          <a:xfrm flipH="false" flipV="false" rot="8100000">
            <a:off x="15687264" y="-2312989"/>
            <a:ext cx="1158687" cy="6457414"/>
          </a:xfrm>
          <a:custGeom>
            <a:avLst/>
            <a:gdLst/>
            <a:ahLst/>
            <a:cxnLst/>
            <a:rect r="r" b="b" t="t" l="l"/>
            <a:pathLst>
              <a:path h="6457414" w="1158687">
                <a:moveTo>
                  <a:pt x="0" y="0"/>
                </a:moveTo>
                <a:lnTo>
                  <a:pt x="1158687" y="0"/>
                </a:lnTo>
                <a:lnTo>
                  <a:pt x="1158687" y="6457414"/>
                </a:lnTo>
                <a:lnTo>
                  <a:pt x="0" y="6457414"/>
                </a:lnTo>
                <a:lnTo>
                  <a:pt x="0" y="0"/>
                </a:lnTo>
                <a:close/>
              </a:path>
            </a:pathLst>
          </a:custGeom>
          <a:blipFill>
            <a:blip r:embed="rId3"/>
            <a:stretch>
              <a:fillRect l="-105286" t="0" r="-14595" b="0"/>
            </a:stretch>
          </a:blipFill>
        </p:spPr>
      </p:sp>
      <p:grpSp>
        <p:nvGrpSpPr>
          <p:cNvPr name="Group 12" id="12"/>
          <p:cNvGrpSpPr/>
          <p:nvPr/>
        </p:nvGrpSpPr>
        <p:grpSpPr>
          <a:xfrm rot="-2881841">
            <a:off x="16031627" y="-1737608"/>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8100000">
            <a:off x="15565727" y="484500"/>
            <a:ext cx="3431466" cy="751988"/>
          </a:xfrm>
          <a:custGeom>
            <a:avLst/>
            <a:gdLst/>
            <a:ahLst/>
            <a:cxnLst/>
            <a:rect r="r" b="b" t="t" l="l"/>
            <a:pathLst>
              <a:path h="751988" w="3431466">
                <a:moveTo>
                  <a:pt x="0" y="0"/>
                </a:moveTo>
                <a:lnTo>
                  <a:pt x="3431466" y="0"/>
                </a:lnTo>
                <a:lnTo>
                  <a:pt x="3431466" y="751989"/>
                </a:lnTo>
                <a:lnTo>
                  <a:pt x="0" y="751989"/>
                </a:lnTo>
                <a:lnTo>
                  <a:pt x="0" y="0"/>
                </a:lnTo>
                <a:close/>
              </a:path>
            </a:pathLst>
          </a:custGeom>
          <a:blipFill>
            <a:blip r:embed="rId4">
              <a:alphaModFix amt="27000"/>
            </a:blip>
            <a:stretch>
              <a:fillRect l="-22095" t="0" r="-3456" b="0"/>
            </a:stretch>
          </a:blipFill>
        </p:spPr>
      </p:sp>
      <p:grpSp>
        <p:nvGrpSpPr>
          <p:cNvPr name="Group 16" id="16"/>
          <p:cNvGrpSpPr/>
          <p:nvPr/>
        </p:nvGrpSpPr>
        <p:grpSpPr>
          <a:xfrm rot="-2881841">
            <a:off x="16631190" y="-2117020"/>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9" id="19"/>
          <p:cNvSpPr txBox="true"/>
          <p:nvPr/>
        </p:nvSpPr>
        <p:spPr>
          <a:xfrm rot="0">
            <a:off x="3111110" y="8045180"/>
            <a:ext cx="14908664" cy="2378615"/>
          </a:xfrm>
          <a:prstGeom prst="rect">
            <a:avLst/>
          </a:prstGeom>
        </p:spPr>
        <p:txBody>
          <a:bodyPr anchor="t" rtlCol="false" tIns="0" lIns="0" bIns="0" rIns="0">
            <a:spAutoFit/>
          </a:bodyPr>
          <a:lstStyle/>
          <a:p>
            <a:pPr algn="l">
              <a:lnSpc>
                <a:spcPts val="2690"/>
              </a:lnSpc>
            </a:pPr>
            <a:r>
              <a:rPr lang="en-US" sz="1921">
                <a:solidFill>
                  <a:srgbClr val="000000"/>
                </a:solidFill>
                <a:latin typeface="Poppins Light"/>
                <a:ea typeface="Poppins Light"/>
                <a:cs typeface="Poppins Light"/>
                <a:sym typeface="Poppins Light"/>
              </a:rPr>
              <a:t>The United States experienced strong emissions growth historically, but its emissions have remained relatively stable and have declined in more recent years. </a:t>
            </a:r>
          </a:p>
          <a:p>
            <a:pPr algn="l">
              <a:lnSpc>
                <a:spcPts val="2690"/>
              </a:lnSpc>
            </a:pPr>
          </a:p>
          <a:p>
            <a:pPr algn="l">
              <a:lnSpc>
                <a:spcPts val="2690"/>
              </a:lnSpc>
            </a:pPr>
            <a:r>
              <a:rPr lang="en-US" sz="1921">
                <a:solidFill>
                  <a:srgbClr val="000000"/>
                </a:solidFill>
                <a:latin typeface="Poppins Light"/>
                <a:ea typeface="Poppins Light"/>
                <a:cs typeface="Poppins Light"/>
                <a:sym typeface="Poppins Light"/>
              </a:rPr>
              <a:t>In contrast, China's CO₂ emissions increased rapidly, particularly from the early 2000s. This reflects China's rapid industrialization, economic growth, expansion of manufacturing, urbanization, and heavy dependence on coal for energy.</a:t>
            </a:r>
          </a:p>
          <a:p>
            <a:pPr algn="l">
              <a:lnSpc>
                <a:spcPts val="2690"/>
              </a:lnSpc>
            </a:pPr>
          </a:p>
          <a:p>
            <a:pPr algn="l">
              <a:lnSpc>
                <a:spcPts val="269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3" id="3"/>
          <p:cNvGrpSpPr/>
          <p:nvPr/>
        </p:nvGrpSpPr>
        <p:grpSpPr>
          <a:xfrm rot="7918158">
            <a:off x="-136144" y="6856153"/>
            <a:ext cx="2182873" cy="5306652"/>
            <a:chOff x="0" y="0"/>
            <a:chExt cx="1622238" cy="3943726"/>
          </a:xfrm>
        </p:grpSpPr>
        <p:sp>
          <p:nvSpPr>
            <p:cNvPr name="Freeform 4" id="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5" id="5"/>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6" id="6"/>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7" id="7"/>
          <p:cNvGrpSpPr/>
          <p:nvPr/>
        </p:nvGrpSpPr>
        <p:grpSpPr>
          <a:xfrm rot="7918158">
            <a:off x="-264006" y="8382289"/>
            <a:ext cx="1711172" cy="4159929"/>
            <a:chOff x="0" y="0"/>
            <a:chExt cx="1622238" cy="3943726"/>
          </a:xfrm>
        </p:grpSpPr>
        <p:sp>
          <p:nvSpPr>
            <p:cNvPr name="Freeform 8" id="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9" id="9"/>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0" id="10"/>
          <p:cNvSpPr/>
          <p:nvPr/>
        </p:nvSpPr>
        <p:spPr>
          <a:xfrm flipH="false" flipV="false" rot="0">
            <a:off x="1234675" y="442684"/>
            <a:ext cx="14567710" cy="7222646"/>
          </a:xfrm>
          <a:custGeom>
            <a:avLst/>
            <a:gdLst/>
            <a:ahLst/>
            <a:cxnLst/>
            <a:rect r="r" b="b" t="t" l="l"/>
            <a:pathLst>
              <a:path h="7222646" w="14567710">
                <a:moveTo>
                  <a:pt x="0" y="0"/>
                </a:moveTo>
                <a:lnTo>
                  <a:pt x="14567710" y="0"/>
                </a:lnTo>
                <a:lnTo>
                  <a:pt x="14567710" y="7222646"/>
                </a:lnTo>
                <a:lnTo>
                  <a:pt x="0" y="7222646"/>
                </a:lnTo>
                <a:lnTo>
                  <a:pt x="0" y="0"/>
                </a:lnTo>
                <a:close/>
              </a:path>
            </a:pathLst>
          </a:custGeom>
          <a:blipFill>
            <a:blip r:embed="rId4"/>
            <a:stretch>
              <a:fillRect l="0" t="0" r="0" b="0"/>
            </a:stretch>
          </a:blipFill>
        </p:spPr>
      </p:sp>
      <p:sp>
        <p:nvSpPr>
          <p:cNvPr name="Freeform 11" id="11"/>
          <p:cNvSpPr/>
          <p:nvPr/>
        </p:nvSpPr>
        <p:spPr>
          <a:xfrm flipH="false" flipV="false" rot="8100000">
            <a:off x="15687264" y="-2312989"/>
            <a:ext cx="1158687" cy="6457414"/>
          </a:xfrm>
          <a:custGeom>
            <a:avLst/>
            <a:gdLst/>
            <a:ahLst/>
            <a:cxnLst/>
            <a:rect r="r" b="b" t="t" l="l"/>
            <a:pathLst>
              <a:path h="6457414" w="1158687">
                <a:moveTo>
                  <a:pt x="0" y="0"/>
                </a:moveTo>
                <a:lnTo>
                  <a:pt x="1158687" y="0"/>
                </a:lnTo>
                <a:lnTo>
                  <a:pt x="1158687" y="6457414"/>
                </a:lnTo>
                <a:lnTo>
                  <a:pt x="0" y="6457414"/>
                </a:lnTo>
                <a:lnTo>
                  <a:pt x="0" y="0"/>
                </a:lnTo>
                <a:close/>
              </a:path>
            </a:pathLst>
          </a:custGeom>
          <a:blipFill>
            <a:blip r:embed="rId2"/>
            <a:stretch>
              <a:fillRect l="-105286" t="0" r="-14595" b="0"/>
            </a:stretch>
          </a:blipFill>
        </p:spPr>
      </p:sp>
      <p:grpSp>
        <p:nvGrpSpPr>
          <p:cNvPr name="Group 12" id="12"/>
          <p:cNvGrpSpPr/>
          <p:nvPr/>
        </p:nvGrpSpPr>
        <p:grpSpPr>
          <a:xfrm rot="-2881841">
            <a:off x="16031627" y="-1737608"/>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8100000">
            <a:off x="15565727" y="484500"/>
            <a:ext cx="3431466" cy="751988"/>
          </a:xfrm>
          <a:custGeom>
            <a:avLst/>
            <a:gdLst/>
            <a:ahLst/>
            <a:cxnLst/>
            <a:rect r="r" b="b" t="t" l="l"/>
            <a:pathLst>
              <a:path h="751988" w="3431466">
                <a:moveTo>
                  <a:pt x="0" y="0"/>
                </a:moveTo>
                <a:lnTo>
                  <a:pt x="3431466" y="0"/>
                </a:lnTo>
                <a:lnTo>
                  <a:pt x="3431466" y="751989"/>
                </a:lnTo>
                <a:lnTo>
                  <a:pt x="0" y="751989"/>
                </a:lnTo>
                <a:lnTo>
                  <a:pt x="0" y="0"/>
                </a:lnTo>
                <a:close/>
              </a:path>
            </a:pathLst>
          </a:custGeom>
          <a:blipFill>
            <a:blip r:embed="rId3">
              <a:alphaModFix amt="27000"/>
            </a:blip>
            <a:stretch>
              <a:fillRect l="-22095" t="0" r="-3456" b="0"/>
            </a:stretch>
          </a:blipFill>
        </p:spPr>
      </p:sp>
      <p:grpSp>
        <p:nvGrpSpPr>
          <p:cNvPr name="Group 16" id="16"/>
          <p:cNvGrpSpPr/>
          <p:nvPr/>
        </p:nvGrpSpPr>
        <p:grpSpPr>
          <a:xfrm rot="-2881841">
            <a:off x="16631190" y="-2117020"/>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9" id="19"/>
          <p:cNvSpPr txBox="true"/>
          <p:nvPr/>
        </p:nvSpPr>
        <p:spPr>
          <a:xfrm rot="0">
            <a:off x="3068390" y="7726101"/>
            <a:ext cx="13935749" cy="1532199"/>
          </a:xfrm>
          <a:prstGeom prst="rect">
            <a:avLst/>
          </a:prstGeom>
        </p:spPr>
        <p:txBody>
          <a:bodyPr anchor="t" rtlCol="false" tIns="0" lIns="0" bIns="0" rIns="0">
            <a:spAutoFit/>
          </a:bodyPr>
          <a:lstStyle/>
          <a:p>
            <a:pPr algn="l">
              <a:lnSpc>
                <a:spcPts val="2873"/>
              </a:lnSpc>
            </a:pPr>
            <a:r>
              <a:rPr lang="en-US" sz="2052">
                <a:solidFill>
                  <a:srgbClr val="000000"/>
                </a:solidFill>
                <a:latin typeface="Poppins Light"/>
                <a:ea typeface="Poppins Light"/>
                <a:cs typeface="Poppins Light"/>
                <a:sym typeface="Poppins Light"/>
              </a:rPr>
              <a:t>The analysis of cumulative CO₂ emissions shows that the United States is among the largest contributors to total emissions over the study period. This highlights the significant role of highly industrialized economies in historical global emissions and shows the large differences in emission levels across countries.</a:t>
            </a:r>
          </a:p>
          <a:p>
            <a:pPr algn="l">
              <a:lnSpc>
                <a:spcPts val="357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2863288" cy="10287000"/>
          </a:xfrm>
          <a:custGeom>
            <a:avLst/>
            <a:gdLst/>
            <a:ahLst/>
            <a:cxnLst/>
            <a:rect r="r" b="b" t="t" l="l"/>
            <a:pathLst>
              <a:path h="10287000" w="12863288">
                <a:moveTo>
                  <a:pt x="0" y="0"/>
                </a:moveTo>
                <a:lnTo>
                  <a:pt x="12863288" y="0"/>
                </a:lnTo>
                <a:lnTo>
                  <a:pt x="12863288" y="10287000"/>
                </a:lnTo>
                <a:lnTo>
                  <a:pt x="0" y="10287000"/>
                </a:lnTo>
                <a:lnTo>
                  <a:pt x="0" y="0"/>
                </a:lnTo>
                <a:close/>
              </a:path>
            </a:pathLst>
          </a:custGeom>
          <a:blipFill>
            <a:blip r:embed="rId2"/>
            <a:stretch>
              <a:fillRect l="0" t="-177" r="0" b="-177"/>
            </a:stretch>
          </a:blipFill>
        </p:spPr>
      </p:sp>
      <p:sp>
        <p:nvSpPr>
          <p:cNvPr name="Freeform 3" id="3"/>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3"/>
            <a:stretch>
              <a:fillRect l="-105286" t="0" r="-14595" b="0"/>
            </a:stretch>
          </a:blipFill>
        </p:spPr>
      </p:sp>
      <p:grpSp>
        <p:nvGrpSpPr>
          <p:cNvPr name="Group 4" id="4"/>
          <p:cNvGrpSpPr/>
          <p:nvPr/>
        </p:nvGrpSpPr>
        <p:grpSpPr>
          <a:xfrm rot="7918158">
            <a:off x="-136144" y="685615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4">
              <a:alphaModFix amt="27000"/>
            </a:blip>
            <a:stretch>
              <a:fillRect l="-22095" t="0" r="-3456" b="0"/>
            </a:stretch>
          </a:blipFill>
        </p:spPr>
      </p:sp>
      <p:grpSp>
        <p:nvGrpSpPr>
          <p:cNvPr name="Group 8" id="8"/>
          <p:cNvGrpSpPr/>
          <p:nvPr/>
        </p:nvGrpSpPr>
        <p:grpSpPr>
          <a:xfrm rot="7918158">
            <a:off x="-264006" y="8382289"/>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1" id="11"/>
          <p:cNvSpPr/>
          <p:nvPr/>
        </p:nvSpPr>
        <p:spPr>
          <a:xfrm flipH="false" flipV="false" rot="8100000">
            <a:off x="15687264" y="-2312989"/>
            <a:ext cx="1158687" cy="6457414"/>
          </a:xfrm>
          <a:custGeom>
            <a:avLst/>
            <a:gdLst/>
            <a:ahLst/>
            <a:cxnLst/>
            <a:rect r="r" b="b" t="t" l="l"/>
            <a:pathLst>
              <a:path h="6457414" w="1158687">
                <a:moveTo>
                  <a:pt x="0" y="0"/>
                </a:moveTo>
                <a:lnTo>
                  <a:pt x="1158687" y="0"/>
                </a:lnTo>
                <a:lnTo>
                  <a:pt x="1158687" y="6457414"/>
                </a:lnTo>
                <a:lnTo>
                  <a:pt x="0" y="6457414"/>
                </a:lnTo>
                <a:lnTo>
                  <a:pt x="0" y="0"/>
                </a:lnTo>
                <a:close/>
              </a:path>
            </a:pathLst>
          </a:custGeom>
          <a:blipFill>
            <a:blip r:embed="rId3"/>
            <a:stretch>
              <a:fillRect l="-105286" t="0" r="-14595" b="0"/>
            </a:stretch>
          </a:blipFill>
        </p:spPr>
      </p:sp>
      <p:grpSp>
        <p:nvGrpSpPr>
          <p:cNvPr name="Group 12" id="12"/>
          <p:cNvGrpSpPr/>
          <p:nvPr/>
        </p:nvGrpSpPr>
        <p:grpSpPr>
          <a:xfrm rot="-2881841">
            <a:off x="16031627" y="-1737608"/>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8100000">
            <a:off x="15565727" y="484500"/>
            <a:ext cx="3431466" cy="751988"/>
          </a:xfrm>
          <a:custGeom>
            <a:avLst/>
            <a:gdLst/>
            <a:ahLst/>
            <a:cxnLst/>
            <a:rect r="r" b="b" t="t" l="l"/>
            <a:pathLst>
              <a:path h="751988" w="3431466">
                <a:moveTo>
                  <a:pt x="0" y="0"/>
                </a:moveTo>
                <a:lnTo>
                  <a:pt x="3431466" y="0"/>
                </a:lnTo>
                <a:lnTo>
                  <a:pt x="3431466" y="751989"/>
                </a:lnTo>
                <a:lnTo>
                  <a:pt x="0" y="751989"/>
                </a:lnTo>
                <a:lnTo>
                  <a:pt x="0" y="0"/>
                </a:lnTo>
                <a:close/>
              </a:path>
            </a:pathLst>
          </a:custGeom>
          <a:blipFill>
            <a:blip r:embed="rId4">
              <a:alphaModFix amt="27000"/>
            </a:blip>
            <a:stretch>
              <a:fillRect l="-22095" t="0" r="-3456" b="0"/>
            </a:stretch>
          </a:blipFill>
        </p:spPr>
      </p:sp>
      <p:grpSp>
        <p:nvGrpSpPr>
          <p:cNvPr name="Group 16" id="16"/>
          <p:cNvGrpSpPr/>
          <p:nvPr/>
        </p:nvGrpSpPr>
        <p:grpSpPr>
          <a:xfrm rot="-2881841">
            <a:off x="16631190" y="-2117020"/>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9" id="19"/>
          <p:cNvSpPr txBox="true"/>
          <p:nvPr/>
        </p:nvSpPr>
        <p:spPr>
          <a:xfrm rot="0">
            <a:off x="13021561" y="2517937"/>
            <a:ext cx="5266439" cy="7092788"/>
          </a:xfrm>
          <a:prstGeom prst="rect">
            <a:avLst/>
          </a:prstGeom>
        </p:spPr>
        <p:txBody>
          <a:bodyPr anchor="t" rtlCol="false" tIns="0" lIns="0" bIns="0" rIns="0">
            <a:spAutoFit/>
          </a:bodyPr>
          <a:lstStyle/>
          <a:p>
            <a:pPr algn="l">
              <a:lnSpc>
                <a:spcPts val="3156"/>
              </a:lnSpc>
            </a:pPr>
            <a:r>
              <a:rPr lang="en-US" sz="2254">
                <a:solidFill>
                  <a:srgbClr val="000000"/>
                </a:solidFill>
                <a:latin typeface="Poppins Light"/>
                <a:ea typeface="Poppins Light"/>
                <a:cs typeface="Poppins Light"/>
                <a:sym typeface="Poppins Light"/>
              </a:rPr>
              <a:t>CO₂ emissions are strongly correlated with primary energy consumption and GDP, suggesting that higher economic activity and energy use are associated with higher emissions.</a:t>
            </a:r>
          </a:p>
          <a:p>
            <a:pPr algn="l">
              <a:lnSpc>
                <a:spcPts val="3156"/>
              </a:lnSpc>
            </a:pPr>
          </a:p>
          <a:p>
            <a:pPr algn="l">
              <a:lnSpc>
                <a:spcPts val="3156"/>
              </a:lnSpc>
            </a:pPr>
            <a:r>
              <a:rPr lang="en-US" sz="2254">
                <a:solidFill>
                  <a:srgbClr val="000000"/>
                </a:solidFill>
                <a:latin typeface="Poppins Light"/>
                <a:ea typeface="Poppins Light"/>
                <a:cs typeface="Poppins Light"/>
                <a:sym typeface="Poppins Light"/>
              </a:rPr>
              <a:t>CO₂ also has strong relationships with coal, oil, and gas emissions. These results support the importance of economic activity, energy consumption, and historical emission patterns when developing the forecasting model.</a:t>
            </a:r>
          </a:p>
          <a:p>
            <a:pPr algn="l">
              <a:lnSpc>
                <a:spcPts val="3156"/>
              </a:lnSpc>
            </a:pPr>
          </a:p>
          <a:p>
            <a:pPr algn="l">
              <a:lnSpc>
                <a:spcPts val="4720"/>
              </a:lnSpc>
            </a:pPr>
          </a:p>
          <a:p>
            <a:pPr algn="l">
              <a:lnSpc>
                <a:spcPts val="472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2217109" y="4580489"/>
            <a:ext cx="10591742" cy="1317596"/>
          </a:xfrm>
          <a:custGeom>
            <a:avLst/>
            <a:gdLst/>
            <a:ahLst/>
            <a:cxnLst/>
            <a:rect r="r" b="b" t="t" l="l"/>
            <a:pathLst>
              <a:path h="1317596" w="10591742">
                <a:moveTo>
                  <a:pt x="0" y="0"/>
                </a:moveTo>
                <a:lnTo>
                  <a:pt x="10591742" y="0"/>
                </a:lnTo>
                <a:lnTo>
                  <a:pt x="10591742" y="1317596"/>
                </a:lnTo>
                <a:lnTo>
                  <a:pt x="0" y="1317596"/>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8100000">
            <a:off x="2109337" y="9544622"/>
            <a:ext cx="5864972" cy="1317596"/>
          </a:xfrm>
          <a:custGeom>
            <a:avLst/>
            <a:gdLst/>
            <a:ahLst/>
            <a:cxnLst/>
            <a:rect r="r" b="b" t="t" l="l"/>
            <a:pathLst>
              <a:path h="1317596" w="5864972">
                <a:moveTo>
                  <a:pt x="0" y="0"/>
                </a:moveTo>
                <a:lnTo>
                  <a:pt x="5864972" y="0"/>
                </a:lnTo>
                <a:lnTo>
                  <a:pt x="5864972" y="1317595"/>
                </a:lnTo>
                <a:lnTo>
                  <a:pt x="0" y="1317595"/>
                </a:lnTo>
                <a:lnTo>
                  <a:pt x="0" y="0"/>
                </a:lnTo>
                <a:close/>
              </a:path>
            </a:pathLst>
          </a:custGeom>
          <a:blipFill>
            <a:blip r:embed="rId2">
              <a:alphaModFix amt="19999"/>
            </a:blip>
            <a:stretch>
              <a:fillRect l="0" t="-7391" r="-47734" b="-7391"/>
            </a:stretch>
          </a:blipFill>
        </p:spPr>
      </p:sp>
      <p:grpSp>
        <p:nvGrpSpPr>
          <p:cNvPr name="Group 4" id="4"/>
          <p:cNvGrpSpPr/>
          <p:nvPr/>
        </p:nvGrpSpPr>
        <p:grpSpPr>
          <a:xfrm rot="-10800000">
            <a:off x="-6729487" y="1836974"/>
            <a:ext cx="13618068" cy="13618068"/>
            <a:chOff x="0" y="0"/>
            <a:chExt cx="812800" cy="812800"/>
          </a:xfrm>
        </p:grpSpPr>
        <p:sp>
          <p:nvSpPr>
            <p:cNvPr name="Freeform 5" id="5"/>
            <p:cNvSpPr/>
            <p:nvPr/>
          </p:nvSpPr>
          <p:spPr>
            <a:xfrm flipH="false" flipV="false" rot="0">
              <a:off x="13187" y="13187"/>
              <a:ext cx="786426" cy="786426"/>
            </a:xfrm>
            <a:custGeom>
              <a:avLst/>
              <a:gdLst/>
              <a:ahLst/>
              <a:cxnLst/>
              <a:rect r="r" b="b" t="t" l="l"/>
              <a:pathLst>
                <a:path h="786426" w="786426">
                  <a:moveTo>
                    <a:pt x="415725" y="9325"/>
                  </a:moveTo>
                  <a:lnTo>
                    <a:pt x="777101" y="370701"/>
                  </a:lnTo>
                  <a:cubicBezTo>
                    <a:pt x="783072" y="376672"/>
                    <a:pt x="786426" y="384770"/>
                    <a:pt x="786426" y="393213"/>
                  </a:cubicBezTo>
                  <a:cubicBezTo>
                    <a:pt x="786426" y="401656"/>
                    <a:pt x="783072" y="409754"/>
                    <a:pt x="777101" y="415725"/>
                  </a:cubicBezTo>
                  <a:lnTo>
                    <a:pt x="415725" y="777101"/>
                  </a:lnTo>
                  <a:cubicBezTo>
                    <a:pt x="409754" y="783072"/>
                    <a:pt x="401656" y="786426"/>
                    <a:pt x="393213" y="786426"/>
                  </a:cubicBezTo>
                  <a:cubicBezTo>
                    <a:pt x="384770" y="786426"/>
                    <a:pt x="376672" y="783072"/>
                    <a:pt x="370701" y="777101"/>
                  </a:cubicBezTo>
                  <a:lnTo>
                    <a:pt x="9325" y="415725"/>
                  </a:lnTo>
                  <a:cubicBezTo>
                    <a:pt x="3354" y="409754"/>
                    <a:pt x="0" y="401656"/>
                    <a:pt x="0" y="393213"/>
                  </a:cubicBezTo>
                  <a:cubicBezTo>
                    <a:pt x="0" y="384770"/>
                    <a:pt x="3354" y="376672"/>
                    <a:pt x="9325" y="370701"/>
                  </a:cubicBezTo>
                  <a:lnTo>
                    <a:pt x="370701" y="9325"/>
                  </a:lnTo>
                  <a:cubicBezTo>
                    <a:pt x="376672" y="3354"/>
                    <a:pt x="384770" y="0"/>
                    <a:pt x="393213" y="0"/>
                  </a:cubicBezTo>
                  <a:cubicBezTo>
                    <a:pt x="401656" y="0"/>
                    <a:pt x="409754" y="3354"/>
                    <a:pt x="415725" y="9325"/>
                  </a:cubicBezTo>
                  <a:close/>
                </a:path>
              </a:pathLst>
            </a:custGeom>
            <a:solidFill>
              <a:srgbClr val="FFFFFF"/>
            </a:solidFill>
          </p:spPr>
        </p:sp>
        <p:sp>
          <p:nvSpPr>
            <p:cNvPr name="TextBox 6" id="6"/>
            <p:cNvSpPr txBox="true"/>
            <p:nvPr/>
          </p:nvSpPr>
          <p:spPr>
            <a:xfrm>
              <a:off x="139700" y="101600"/>
              <a:ext cx="533400" cy="571500"/>
            </a:xfrm>
            <a:prstGeom prst="rect">
              <a:avLst/>
            </a:prstGeom>
          </p:spPr>
          <p:txBody>
            <a:bodyPr anchor="ctr" rtlCol="false" tIns="55757" lIns="55757" bIns="55757" rIns="55757"/>
            <a:lstStyle/>
            <a:p>
              <a:pPr algn="ctr">
                <a:lnSpc>
                  <a:spcPts val="3359"/>
                </a:lnSpc>
              </a:pPr>
            </a:p>
          </p:txBody>
        </p:sp>
      </p:grpSp>
      <p:sp>
        <p:nvSpPr>
          <p:cNvPr name="Freeform 7" id="7"/>
          <p:cNvSpPr/>
          <p:nvPr/>
        </p:nvSpPr>
        <p:spPr>
          <a:xfrm flipH="false" flipV="false" rot="0">
            <a:off x="318511" y="3127456"/>
            <a:ext cx="17135241" cy="5877724"/>
          </a:xfrm>
          <a:custGeom>
            <a:avLst/>
            <a:gdLst/>
            <a:ahLst/>
            <a:cxnLst/>
            <a:rect r="r" b="b" t="t" l="l"/>
            <a:pathLst>
              <a:path h="5877724" w="17135241">
                <a:moveTo>
                  <a:pt x="0" y="0"/>
                </a:moveTo>
                <a:lnTo>
                  <a:pt x="17135242" y="0"/>
                </a:lnTo>
                <a:lnTo>
                  <a:pt x="17135242" y="5877724"/>
                </a:lnTo>
                <a:lnTo>
                  <a:pt x="0" y="5877724"/>
                </a:lnTo>
                <a:lnTo>
                  <a:pt x="0" y="0"/>
                </a:lnTo>
                <a:close/>
              </a:path>
            </a:pathLst>
          </a:custGeom>
          <a:blipFill>
            <a:blip r:embed="rId3"/>
            <a:stretch>
              <a:fillRect l="0" t="0" r="-151" b="0"/>
            </a:stretch>
          </a:blipFill>
        </p:spPr>
      </p:sp>
      <p:grpSp>
        <p:nvGrpSpPr>
          <p:cNvPr name="Group 8" id="8"/>
          <p:cNvGrpSpPr/>
          <p:nvPr/>
        </p:nvGrpSpPr>
        <p:grpSpPr>
          <a:xfrm rot="2518158">
            <a:off x="16423857" y="5465352"/>
            <a:ext cx="3280102" cy="7974061"/>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0" id="10"/>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1" id="11"/>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sp>
        <p:nvSpPr>
          <p:cNvPr name="TextBox 12" id="12"/>
          <p:cNvSpPr txBox="true"/>
          <p:nvPr/>
        </p:nvSpPr>
        <p:spPr>
          <a:xfrm rot="0">
            <a:off x="318511" y="2188038"/>
            <a:ext cx="17135241" cy="1118235"/>
          </a:xfrm>
          <a:prstGeom prst="rect">
            <a:avLst/>
          </a:prstGeom>
        </p:spPr>
        <p:txBody>
          <a:bodyPr anchor="t" rtlCol="false" tIns="0" lIns="0" bIns="0" rIns="0">
            <a:spAutoFit/>
          </a:bodyPr>
          <a:lstStyle/>
          <a:p>
            <a:pPr algn="l">
              <a:lnSpc>
                <a:spcPts val="2940"/>
              </a:lnSpc>
            </a:pPr>
            <a:r>
              <a:rPr lang="en-US" sz="2100">
                <a:solidFill>
                  <a:srgbClr val="000000"/>
                </a:solidFill>
                <a:latin typeface="Poppins Light"/>
                <a:ea typeface="Poppins Light"/>
                <a:cs typeface="Poppins Light"/>
                <a:sym typeface="Poppins Light"/>
              </a:rPr>
              <a:t>Instead of assuming future GDP, population and energy values are already known, the pipeline forecasts them first — then feeds those forecasts into the CO₂ model.</a:t>
            </a:r>
          </a:p>
          <a:p>
            <a:pPr algn="l">
              <a:lnSpc>
                <a:spcPts val="2940"/>
              </a:lnSpc>
            </a:pPr>
          </a:p>
        </p:txBody>
      </p:sp>
      <p:grpSp>
        <p:nvGrpSpPr>
          <p:cNvPr name="Group 13" id="13"/>
          <p:cNvGrpSpPr/>
          <p:nvPr/>
        </p:nvGrpSpPr>
        <p:grpSpPr>
          <a:xfrm rot="0">
            <a:off x="-648645" y="-558795"/>
            <a:ext cx="19585289" cy="2625165"/>
            <a:chOff x="0" y="0"/>
            <a:chExt cx="5158265" cy="691402"/>
          </a:xfrm>
        </p:grpSpPr>
        <p:sp>
          <p:nvSpPr>
            <p:cNvPr name="Freeform 14" id="14"/>
            <p:cNvSpPr/>
            <p:nvPr/>
          </p:nvSpPr>
          <p:spPr>
            <a:xfrm flipH="false" flipV="false" rot="0">
              <a:off x="0" y="0"/>
              <a:ext cx="5158265" cy="691402"/>
            </a:xfrm>
            <a:custGeom>
              <a:avLst/>
              <a:gdLst/>
              <a:ahLst/>
              <a:cxnLst/>
              <a:rect r="r" b="b" t="t" l="l"/>
              <a:pathLst>
                <a:path h="691402" w="5158265">
                  <a:moveTo>
                    <a:pt x="0" y="0"/>
                  </a:moveTo>
                  <a:lnTo>
                    <a:pt x="5158265" y="0"/>
                  </a:lnTo>
                  <a:lnTo>
                    <a:pt x="5158265" y="691402"/>
                  </a:lnTo>
                  <a:lnTo>
                    <a:pt x="0" y="691402"/>
                  </a:lnTo>
                  <a:close/>
                </a:path>
              </a:pathLst>
            </a:custGeom>
            <a:solidFill>
              <a:srgbClr val="047650"/>
            </a:solidFill>
          </p:spPr>
        </p:sp>
        <p:sp>
          <p:nvSpPr>
            <p:cNvPr name="TextBox 15" id="15"/>
            <p:cNvSpPr txBox="true"/>
            <p:nvPr/>
          </p:nvSpPr>
          <p:spPr>
            <a:xfrm>
              <a:off x="0" y="-38100"/>
              <a:ext cx="5158265" cy="729502"/>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318511" y="256150"/>
            <a:ext cx="13416890" cy="1283284"/>
          </a:xfrm>
          <a:prstGeom prst="rect">
            <a:avLst/>
          </a:prstGeom>
        </p:spPr>
        <p:txBody>
          <a:bodyPr anchor="t" rtlCol="false" tIns="0" lIns="0" bIns="0" rIns="0">
            <a:spAutoFit/>
          </a:bodyPr>
          <a:lstStyle/>
          <a:p>
            <a:pPr algn="l">
              <a:lnSpc>
                <a:spcPts val="9859"/>
              </a:lnSpc>
            </a:pPr>
            <a:r>
              <a:rPr lang="en-US" b="true" sz="9045">
                <a:solidFill>
                  <a:srgbClr val="FFFFFF"/>
                </a:solidFill>
                <a:latin typeface="Garet Bold"/>
                <a:ea typeface="Garet Bold"/>
                <a:cs typeface="Garet Bold"/>
                <a:sym typeface="Garet Bold"/>
              </a:rPr>
              <a:t>MODELING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3" id="3"/>
          <p:cNvGrpSpPr/>
          <p:nvPr/>
        </p:nvGrpSpPr>
        <p:grpSpPr>
          <a:xfrm rot="2518158">
            <a:off x="16423857" y="5465352"/>
            <a:ext cx="3280102" cy="7974061"/>
            <a:chOff x="0" y="0"/>
            <a:chExt cx="1622238" cy="3943726"/>
          </a:xfrm>
        </p:grpSpPr>
        <p:sp>
          <p:nvSpPr>
            <p:cNvPr name="Freeform 4" id="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5" id="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648645" y="-558795"/>
            <a:ext cx="19585289" cy="2703563"/>
            <a:chOff x="0" y="0"/>
            <a:chExt cx="5158265" cy="712049"/>
          </a:xfrm>
        </p:grpSpPr>
        <p:sp>
          <p:nvSpPr>
            <p:cNvPr name="Freeform 7" id="7"/>
            <p:cNvSpPr/>
            <p:nvPr/>
          </p:nvSpPr>
          <p:spPr>
            <a:xfrm flipH="false" flipV="false" rot="0">
              <a:off x="0" y="0"/>
              <a:ext cx="5158265" cy="712049"/>
            </a:xfrm>
            <a:custGeom>
              <a:avLst/>
              <a:gdLst/>
              <a:ahLst/>
              <a:cxnLst/>
              <a:rect r="r" b="b" t="t" l="l"/>
              <a:pathLst>
                <a:path h="712049" w="5158265">
                  <a:moveTo>
                    <a:pt x="0" y="0"/>
                  </a:moveTo>
                  <a:lnTo>
                    <a:pt x="5158265" y="0"/>
                  </a:lnTo>
                  <a:lnTo>
                    <a:pt x="5158265" y="712049"/>
                  </a:lnTo>
                  <a:lnTo>
                    <a:pt x="0" y="712049"/>
                  </a:lnTo>
                  <a:close/>
                </a:path>
              </a:pathLst>
            </a:custGeom>
            <a:solidFill>
              <a:srgbClr val="047650"/>
            </a:solidFill>
          </p:spPr>
        </p:sp>
        <p:sp>
          <p:nvSpPr>
            <p:cNvPr name="TextBox 8" id="8"/>
            <p:cNvSpPr txBox="true"/>
            <p:nvPr/>
          </p:nvSpPr>
          <p:spPr>
            <a:xfrm>
              <a:off x="0" y="-38100"/>
              <a:ext cx="5158265" cy="750149"/>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60094" y="2778307"/>
            <a:ext cx="17903814" cy="3166737"/>
          </a:xfrm>
          <a:custGeom>
            <a:avLst/>
            <a:gdLst/>
            <a:ahLst/>
            <a:cxnLst/>
            <a:rect r="r" b="b" t="t" l="l"/>
            <a:pathLst>
              <a:path h="3166737" w="17903814">
                <a:moveTo>
                  <a:pt x="0" y="0"/>
                </a:moveTo>
                <a:lnTo>
                  <a:pt x="17903814" y="0"/>
                </a:lnTo>
                <a:lnTo>
                  <a:pt x="17903814" y="3166737"/>
                </a:lnTo>
                <a:lnTo>
                  <a:pt x="0" y="3166737"/>
                </a:lnTo>
                <a:lnTo>
                  <a:pt x="0" y="0"/>
                </a:lnTo>
                <a:close/>
              </a:path>
            </a:pathLst>
          </a:custGeom>
          <a:blipFill>
            <a:blip r:embed="rId3"/>
            <a:stretch>
              <a:fillRect l="0" t="0" r="0" b="0"/>
            </a:stretch>
          </a:blipFill>
        </p:spPr>
      </p:sp>
      <p:sp>
        <p:nvSpPr>
          <p:cNvPr name="TextBox 10" id="10"/>
          <p:cNvSpPr txBox="true"/>
          <p:nvPr/>
        </p:nvSpPr>
        <p:spPr>
          <a:xfrm rot="0">
            <a:off x="160094" y="536805"/>
            <a:ext cx="13615719" cy="919485"/>
          </a:xfrm>
          <a:prstGeom prst="rect">
            <a:avLst/>
          </a:prstGeom>
        </p:spPr>
        <p:txBody>
          <a:bodyPr anchor="t" rtlCol="false" tIns="0" lIns="0" bIns="0" rIns="0">
            <a:spAutoFit/>
          </a:bodyPr>
          <a:lstStyle/>
          <a:p>
            <a:pPr algn="l">
              <a:lnSpc>
                <a:spcPts val="7085"/>
              </a:lnSpc>
            </a:pPr>
            <a:r>
              <a:rPr lang="en-US" sz="6500" b="true">
                <a:solidFill>
                  <a:srgbClr val="FFFFFF"/>
                </a:solidFill>
                <a:latin typeface="Garet Bold"/>
                <a:ea typeface="Garet Bold"/>
                <a:cs typeface="Garet Bold"/>
                <a:sym typeface="Garet Bold"/>
              </a:rPr>
              <a:t>CHRONOLOGICAL EVALUATION</a:t>
            </a:r>
          </a:p>
        </p:txBody>
      </p:sp>
      <p:sp>
        <p:nvSpPr>
          <p:cNvPr name="TextBox 11" id="11"/>
          <p:cNvSpPr txBox="true"/>
          <p:nvPr/>
        </p:nvSpPr>
        <p:spPr>
          <a:xfrm rot="0">
            <a:off x="160094" y="6640295"/>
            <a:ext cx="17099206" cy="1828349"/>
          </a:xfrm>
          <a:prstGeom prst="rect">
            <a:avLst/>
          </a:prstGeom>
        </p:spPr>
        <p:txBody>
          <a:bodyPr anchor="t" rtlCol="false" tIns="0" lIns="0" bIns="0" rIns="0">
            <a:spAutoFit/>
          </a:bodyPr>
          <a:lstStyle/>
          <a:p>
            <a:pPr algn="l">
              <a:lnSpc>
                <a:spcPts val="3660"/>
              </a:lnSpc>
            </a:pPr>
            <a:r>
              <a:rPr lang="en-US" sz="2614" spc="-2">
                <a:solidFill>
                  <a:srgbClr val="000000"/>
                </a:solidFill>
                <a:latin typeface="Poppins Light"/>
                <a:ea typeface="Poppins Light"/>
                <a:cs typeface="Poppins Light"/>
                <a:sym typeface="Poppins Light"/>
              </a:rPr>
              <a:t>Only training + validation drive model selection and tuning. The test period (2019–2024) is touched exactly once, for final reporting and production forecasts recombine all observed years before predicting forward.</a:t>
            </a:r>
          </a:p>
          <a:p>
            <a:pPr algn="l">
              <a:lnSpc>
                <a:spcPts val="366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518158">
            <a:off x="15307719" y="4645450"/>
            <a:ext cx="3280102" cy="7974061"/>
            <a:chOff x="0" y="0"/>
            <a:chExt cx="1622238" cy="3943726"/>
          </a:xfrm>
        </p:grpSpPr>
        <p:sp>
          <p:nvSpPr>
            <p:cNvPr name="Freeform 3" id="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4" id="4"/>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6" id="6"/>
          <p:cNvGrpSpPr/>
          <p:nvPr/>
        </p:nvGrpSpPr>
        <p:grpSpPr>
          <a:xfrm rot="2518158">
            <a:off x="16423857" y="5465352"/>
            <a:ext cx="3280102" cy="7974061"/>
            <a:chOff x="0" y="0"/>
            <a:chExt cx="1622238" cy="3943726"/>
          </a:xfrm>
        </p:grpSpPr>
        <p:sp>
          <p:nvSpPr>
            <p:cNvPr name="Freeform 7" id="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8" id="8"/>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1700848" y="1928433"/>
            <a:ext cx="5924811" cy="6005823"/>
          </a:xfrm>
          <a:prstGeom prst="rect">
            <a:avLst/>
          </a:prstGeom>
        </p:spPr>
        <p:txBody>
          <a:bodyPr anchor="t" rtlCol="false" tIns="0" lIns="0" bIns="0" rIns="0">
            <a:spAutoFit/>
          </a:bodyPr>
          <a:lstStyle/>
          <a:p>
            <a:pPr algn="l">
              <a:lnSpc>
                <a:spcPts val="3395"/>
              </a:lnSpc>
            </a:pPr>
            <a:r>
              <a:rPr lang="en-US" sz="2425" b="true">
                <a:solidFill>
                  <a:srgbClr val="000000"/>
                </a:solidFill>
                <a:latin typeface="Poppins Bold"/>
                <a:ea typeface="Poppins Bold"/>
                <a:cs typeface="Poppins Bold"/>
                <a:sym typeface="Poppins Bold"/>
              </a:rPr>
              <a:t>RIDGE REGRESSION</a:t>
            </a:r>
          </a:p>
          <a:p>
            <a:pPr algn="l">
              <a:lnSpc>
                <a:spcPts val="3395"/>
              </a:lnSpc>
            </a:pPr>
          </a:p>
          <a:p>
            <a:pPr algn="l">
              <a:lnSpc>
                <a:spcPts val="3395"/>
              </a:lnSpc>
            </a:pPr>
            <a:r>
              <a:rPr lang="en-US" sz="2425" b="true">
                <a:solidFill>
                  <a:srgbClr val="000000"/>
                </a:solidFill>
                <a:latin typeface="Poppins Bold"/>
                <a:ea typeface="Poppins Bold"/>
                <a:cs typeface="Poppins Bold"/>
                <a:sym typeface="Poppins Bold"/>
              </a:rPr>
              <a:t>MAE:</a:t>
            </a:r>
            <a:r>
              <a:rPr lang="en-US" sz="2425">
                <a:solidFill>
                  <a:srgbClr val="000000"/>
                </a:solidFill>
                <a:latin typeface="Poppins Light"/>
                <a:ea typeface="Poppins Light"/>
                <a:cs typeface="Poppins Light"/>
                <a:sym typeface="Poppins Light"/>
              </a:rPr>
              <a:t> 3.637 </a:t>
            </a:r>
            <a:r>
              <a:rPr lang="en-US" sz="2425" b="true">
                <a:solidFill>
                  <a:srgbClr val="000000"/>
                </a:solidFill>
                <a:latin typeface="Poppins Bold"/>
                <a:ea typeface="Poppins Bold"/>
                <a:cs typeface="Poppins Bold"/>
                <a:sym typeface="Poppins Bold"/>
              </a:rPr>
              <a:t>RMSE:</a:t>
            </a:r>
            <a:r>
              <a:rPr lang="en-US" sz="2425">
                <a:solidFill>
                  <a:srgbClr val="000000"/>
                </a:solidFill>
                <a:latin typeface="Poppins Light"/>
                <a:ea typeface="Poppins Light"/>
                <a:cs typeface="Poppins Light"/>
                <a:sym typeface="Poppins Light"/>
              </a:rPr>
              <a:t> 9.072 </a:t>
            </a:r>
          </a:p>
          <a:p>
            <a:pPr algn="l">
              <a:lnSpc>
                <a:spcPts val="3395"/>
              </a:lnSpc>
            </a:pPr>
          </a:p>
          <a:p>
            <a:pPr algn="l">
              <a:lnSpc>
                <a:spcPts val="3395"/>
              </a:lnSpc>
            </a:pPr>
            <a:r>
              <a:rPr lang="en-US" sz="2425">
                <a:solidFill>
                  <a:srgbClr val="000000"/>
                </a:solidFill>
                <a:latin typeface="Poppins Light"/>
                <a:ea typeface="Poppins Light"/>
                <a:cs typeface="Poppins Light"/>
                <a:sym typeface="Poppins Light"/>
              </a:rPr>
              <a:t>The regularised linear model beats every nonlinear ensemble here the engineered relationships in this feature set are close to linear, and simpler models generalise better across the time based split.</a:t>
            </a:r>
          </a:p>
          <a:p>
            <a:pPr algn="l">
              <a:lnSpc>
                <a:spcPts val="3395"/>
              </a:lnSpc>
            </a:pPr>
          </a:p>
          <a:p>
            <a:pPr algn="l">
              <a:lnSpc>
                <a:spcPts val="3395"/>
              </a:lnSpc>
            </a:pPr>
          </a:p>
          <a:p>
            <a:pPr algn="l">
              <a:lnSpc>
                <a:spcPts val="3395"/>
              </a:lnSpc>
            </a:pPr>
            <a:r>
              <a:rPr lang="en-US" sz="2425">
                <a:solidFill>
                  <a:srgbClr val="000000"/>
                </a:solidFill>
                <a:latin typeface="Poppins Light"/>
                <a:ea typeface="Poppins Light"/>
                <a:cs typeface="Poppins Light"/>
                <a:sym typeface="Poppins Light"/>
              </a:rPr>
              <a:t> </a:t>
            </a:r>
          </a:p>
          <a:p>
            <a:pPr algn="l">
              <a:lnSpc>
                <a:spcPts val="3395"/>
              </a:lnSpc>
            </a:pPr>
          </a:p>
        </p:txBody>
      </p:sp>
      <p:sp>
        <p:nvSpPr>
          <p:cNvPr name="Freeform 10" id="10"/>
          <p:cNvSpPr/>
          <p:nvPr/>
        </p:nvSpPr>
        <p:spPr>
          <a:xfrm flipH="false" flipV="false" rot="-2700000">
            <a:off x="11278423" y="7218688"/>
            <a:ext cx="8619088" cy="681879"/>
          </a:xfrm>
          <a:custGeom>
            <a:avLst/>
            <a:gdLst/>
            <a:ahLst/>
            <a:cxnLst/>
            <a:rect r="r" b="b" t="t" l="l"/>
            <a:pathLst>
              <a:path h="681879" w="8619088">
                <a:moveTo>
                  <a:pt x="0" y="0"/>
                </a:moveTo>
                <a:lnTo>
                  <a:pt x="8619088" y="0"/>
                </a:lnTo>
                <a:lnTo>
                  <a:pt x="8619088" y="681880"/>
                </a:lnTo>
                <a:lnTo>
                  <a:pt x="0" y="681880"/>
                </a:lnTo>
                <a:lnTo>
                  <a:pt x="0" y="0"/>
                </a:lnTo>
                <a:close/>
              </a:path>
            </a:pathLst>
          </a:custGeom>
          <a:blipFill>
            <a:blip r:embed="rId2">
              <a:alphaModFix amt="27000"/>
            </a:blip>
            <a:stretch>
              <a:fillRect l="-11556" t="-32881" r="0" b="-113244"/>
            </a:stretch>
          </a:blipFill>
        </p:spPr>
      </p:sp>
      <p:sp>
        <p:nvSpPr>
          <p:cNvPr name="Freeform 11" id="11"/>
          <p:cNvSpPr/>
          <p:nvPr/>
        </p:nvSpPr>
        <p:spPr>
          <a:xfrm flipH="false" flipV="false" rot="0">
            <a:off x="281551" y="1787158"/>
            <a:ext cx="11419298" cy="4864098"/>
          </a:xfrm>
          <a:custGeom>
            <a:avLst/>
            <a:gdLst/>
            <a:ahLst/>
            <a:cxnLst/>
            <a:rect r="r" b="b" t="t" l="l"/>
            <a:pathLst>
              <a:path h="4864098" w="11419298">
                <a:moveTo>
                  <a:pt x="0" y="0"/>
                </a:moveTo>
                <a:lnTo>
                  <a:pt x="11419297" y="0"/>
                </a:lnTo>
                <a:lnTo>
                  <a:pt x="11419297" y="4864098"/>
                </a:lnTo>
                <a:lnTo>
                  <a:pt x="0" y="4864098"/>
                </a:lnTo>
                <a:lnTo>
                  <a:pt x="0" y="0"/>
                </a:lnTo>
                <a:close/>
              </a:path>
            </a:pathLst>
          </a:custGeom>
          <a:blipFill>
            <a:blip r:embed="rId3"/>
            <a:stretch>
              <a:fillRect l="0" t="0" r="0" b="0"/>
            </a:stretch>
          </a:blipFill>
        </p:spPr>
      </p:sp>
      <p:sp>
        <p:nvSpPr>
          <p:cNvPr name="TextBox 12" id="12"/>
          <p:cNvSpPr txBox="true"/>
          <p:nvPr/>
        </p:nvSpPr>
        <p:spPr>
          <a:xfrm rot="0">
            <a:off x="281551" y="626387"/>
            <a:ext cx="17344109" cy="842726"/>
          </a:xfrm>
          <a:prstGeom prst="rect">
            <a:avLst/>
          </a:prstGeom>
        </p:spPr>
        <p:txBody>
          <a:bodyPr anchor="t" rtlCol="false" tIns="0" lIns="0" bIns="0" rIns="0">
            <a:spAutoFit/>
          </a:bodyPr>
          <a:lstStyle/>
          <a:p>
            <a:pPr algn="l">
              <a:lnSpc>
                <a:spcPts val="4817"/>
              </a:lnSpc>
            </a:pPr>
            <a:r>
              <a:rPr lang="en-US" sz="4420" b="true">
                <a:solidFill>
                  <a:srgbClr val="047650"/>
                </a:solidFill>
                <a:latin typeface="Garet Bold"/>
                <a:ea typeface="Garet Bold"/>
                <a:cs typeface="Garet Bold"/>
                <a:sym typeface="Garet Bold"/>
              </a:rPr>
              <a:t>CHOOSING THE CO₂ MODEL ON VALIDATION PERFORMANCE</a:t>
            </a:r>
          </a:p>
          <a:p>
            <a:pPr algn="l">
              <a:lnSpc>
                <a:spcPts val="1833"/>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281551" y="2660559"/>
            <a:ext cx="17782357" cy="5779266"/>
          </a:xfrm>
          <a:custGeom>
            <a:avLst/>
            <a:gdLst/>
            <a:ahLst/>
            <a:cxnLst/>
            <a:rect r="r" b="b" t="t" l="l"/>
            <a:pathLst>
              <a:path h="5779266" w="17782357">
                <a:moveTo>
                  <a:pt x="0" y="0"/>
                </a:moveTo>
                <a:lnTo>
                  <a:pt x="17782357" y="0"/>
                </a:lnTo>
                <a:lnTo>
                  <a:pt x="17782357" y="5779266"/>
                </a:lnTo>
                <a:lnTo>
                  <a:pt x="0" y="5779266"/>
                </a:lnTo>
                <a:lnTo>
                  <a:pt x="0" y="0"/>
                </a:lnTo>
                <a:close/>
              </a:path>
            </a:pathLst>
          </a:custGeom>
          <a:blipFill>
            <a:blip r:embed="rId2"/>
            <a:stretch>
              <a:fillRect l="0" t="0" r="0" b="0"/>
            </a:stretch>
          </a:blipFill>
        </p:spPr>
      </p:sp>
      <p:sp>
        <p:nvSpPr>
          <p:cNvPr name="Freeform 3" id="3"/>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3">
              <a:alphaModFix amt="27000"/>
            </a:blip>
            <a:stretch>
              <a:fillRect l="-22095" t="0" r="-3456" b="0"/>
            </a:stretch>
          </a:blipFill>
        </p:spPr>
      </p:sp>
      <p:grpSp>
        <p:nvGrpSpPr>
          <p:cNvPr name="Group 4" id="4"/>
          <p:cNvGrpSpPr/>
          <p:nvPr/>
        </p:nvGrpSpPr>
        <p:grpSpPr>
          <a:xfrm rot="2518158">
            <a:off x="16423857" y="5465352"/>
            <a:ext cx="3280102" cy="7974061"/>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6" id="6"/>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281551" y="635912"/>
            <a:ext cx="14582789" cy="1354081"/>
          </a:xfrm>
          <a:prstGeom prst="rect">
            <a:avLst/>
          </a:prstGeom>
        </p:spPr>
        <p:txBody>
          <a:bodyPr anchor="t" rtlCol="false" tIns="0" lIns="0" bIns="0" rIns="0">
            <a:spAutoFit/>
          </a:bodyPr>
          <a:lstStyle/>
          <a:p>
            <a:pPr algn="l">
              <a:lnSpc>
                <a:spcPts val="5321"/>
              </a:lnSpc>
            </a:pPr>
            <a:r>
              <a:rPr lang="en-US" sz="4882" b="true">
                <a:solidFill>
                  <a:srgbClr val="047650"/>
                </a:solidFill>
                <a:latin typeface="Garet Bold"/>
                <a:ea typeface="Garet Bold"/>
                <a:cs typeface="Garet Bold"/>
                <a:sym typeface="Garet Bold"/>
              </a:rPr>
              <a:t>WHAT ACTUALLY MOVES THE FORECAST</a:t>
            </a:r>
          </a:p>
          <a:p>
            <a:pPr algn="l">
              <a:lnSpc>
                <a:spcPts val="5321"/>
              </a:lnSpc>
            </a:pPr>
          </a:p>
        </p:txBody>
      </p:sp>
      <p:sp>
        <p:nvSpPr>
          <p:cNvPr name="TextBox 8" id="8"/>
          <p:cNvSpPr txBox="true"/>
          <p:nvPr/>
        </p:nvSpPr>
        <p:spPr>
          <a:xfrm rot="0">
            <a:off x="281551" y="1923318"/>
            <a:ext cx="17099206" cy="914306"/>
          </a:xfrm>
          <a:prstGeom prst="rect">
            <a:avLst/>
          </a:prstGeom>
        </p:spPr>
        <p:txBody>
          <a:bodyPr anchor="t" rtlCol="false" tIns="0" lIns="0" bIns="0" rIns="0">
            <a:spAutoFit/>
          </a:bodyPr>
          <a:lstStyle/>
          <a:p>
            <a:pPr algn="l">
              <a:lnSpc>
                <a:spcPts val="3660"/>
              </a:lnSpc>
            </a:pPr>
            <a:r>
              <a:rPr lang="en-US" sz="2614" spc="-2">
                <a:solidFill>
                  <a:srgbClr val="000000"/>
                </a:solidFill>
                <a:latin typeface="Poppins Light"/>
                <a:ea typeface="Poppins Light"/>
                <a:cs typeface="Poppins Light"/>
                <a:sym typeface="Poppins Light"/>
              </a:rPr>
              <a:t>Not every input matters equally. The model relies most heavily on:</a:t>
            </a:r>
          </a:p>
          <a:p>
            <a:pPr algn="l">
              <a:lnSpc>
                <a:spcPts val="366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14707753" y="2058995"/>
            <a:ext cx="1043919" cy="10125271"/>
          </a:xfrm>
          <a:custGeom>
            <a:avLst/>
            <a:gdLst/>
            <a:ahLst/>
            <a:cxnLst/>
            <a:rect r="r" b="b" t="t" l="l"/>
            <a:pathLst>
              <a:path h="10125271" w="1043919">
                <a:moveTo>
                  <a:pt x="0" y="0"/>
                </a:moveTo>
                <a:lnTo>
                  <a:pt x="1043919" y="0"/>
                </a:lnTo>
                <a:lnTo>
                  <a:pt x="1043919" y="10125271"/>
                </a:lnTo>
                <a:lnTo>
                  <a:pt x="0" y="10125271"/>
                </a:lnTo>
                <a:lnTo>
                  <a:pt x="0" y="0"/>
                </a:lnTo>
                <a:close/>
              </a:path>
            </a:pathLst>
          </a:custGeom>
          <a:blipFill>
            <a:blip r:embed="rId2"/>
            <a:stretch>
              <a:fillRect l="-220259" t="0" r="-62421" b="0"/>
            </a:stretch>
          </a:blipFill>
        </p:spPr>
      </p:sp>
      <p:grpSp>
        <p:nvGrpSpPr>
          <p:cNvPr name="Group 3" id="3"/>
          <p:cNvGrpSpPr/>
          <p:nvPr/>
        </p:nvGrpSpPr>
        <p:grpSpPr>
          <a:xfrm rot="2518158">
            <a:off x="14145413" y="3669099"/>
            <a:ext cx="4184293" cy="10172185"/>
            <a:chOff x="0" y="0"/>
            <a:chExt cx="1622238" cy="3943726"/>
          </a:xfrm>
        </p:grpSpPr>
        <p:sp>
          <p:nvSpPr>
            <p:cNvPr name="Freeform 4" id="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5" id="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3">
              <a:alphaModFix amt="27000"/>
            </a:blip>
            <a:stretch>
              <a:fillRect l="-22095" t="0" r="-3456" b="0"/>
            </a:stretch>
          </a:blipFill>
        </p:spPr>
      </p:sp>
      <p:grpSp>
        <p:nvGrpSpPr>
          <p:cNvPr name="Group 7" id="7"/>
          <p:cNvGrpSpPr/>
          <p:nvPr/>
        </p:nvGrpSpPr>
        <p:grpSpPr>
          <a:xfrm rot="2518158">
            <a:off x="16423857" y="5465352"/>
            <a:ext cx="3280102" cy="7974061"/>
            <a:chOff x="0" y="0"/>
            <a:chExt cx="1622238" cy="3943726"/>
          </a:xfrm>
        </p:grpSpPr>
        <p:sp>
          <p:nvSpPr>
            <p:cNvPr name="Freeform 8" id="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9" id="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aphicFrame>
        <p:nvGraphicFramePr>
          <p:cNvPr name="Object 10" id="10"/>
          <p:cNvGraphicFramePr/>
          <p:nvPr/>
        </p:nvGraphicFramePr>
        <p:xfrm>
          <a:off x="281551" y="1371600"/>
          <a:ext cx="12172950" cy="7543800"/>
        </p:xfrm>
        <a:graphic>
          <a:graphicData uri="http://schemas.openxmlformats.org/presentationml/2006/ole">
            <p:oleObj imgW="14605000" imgH="9982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1" id="11"/>
          <p:cNvSpPr txBox="true"/>
          <p:nvPr/>
        </p:nvSpPr>
        <p:spPr>
          <a:xfrm rot="0">
            <a:off x="281551" y="363213"/>
            <a:ext cx="12012287" cy="665487"/>
          </a:xfrm>
          <a:prstGeom prst="rect">
            <a:avLst/>
          </a:prstGeom>
        </p:spPr>
        <p:txBody>
          <a:bodyPr anchor="t" rtlCol="false" tIns="0" lIns="0" bIns="0" rIns="0">
            <a:spAutoFit/>
          </a:bodyPr>
          <a:lstStyle/>
          <a:p>
            <a:pPr algn="l">
              <a:lnSpc>
                <a:spcPts val="5103"/>
              </a:lnSpc>
            </a:pPr>
            <a:r>
              <a:rPr lang="en-US" sz="4682" b="true">
                <a:solidFill>
                  <a:srgbClr val="047650"/>
                </a:solidFill>
                <a:latin typeface="Garet Bold"/>
                <a:ea typeface="Garet Bold"/>
                <a:cs typeface="Garet Bold"/>
                <a:sym typeface="Garet Bold"/>
              </a:rPr>
              <a:t>PROPHET VS. ARIMA</a:t>
            </a:r>
          </a:p>
        </p:txBody>
      </p:sp>
      <p:sp>
        <p:nvSpPr>
          <p:cNvPr name="TextBox 12" id="12"/>
          <p:cNvSpPr txBox="true"/>
          <p:nvPr/>
        </p:nvSpPr>
        <p:spPr>
          <a:xfrm rot="0">
            <a:off x="12650046" y="996343"/>
            <a:ext cx="5413862" cy="1768475"/>
          </a:xfrm>
          <a:prstGeom prst="rect">
            <a:avLst/>
          </a:prstGeom>
        </p:spPr>
        <p:txBody>
          <a:bodyPr anchor="t" rtlCol="false" tIns="0" lIns="0" bIns="0" rIns="0">
            <a:spAutoFit/>
          </a:bodyPr>
          <a:lstStyle/>
          <a:p>
            <a:pPr algn="l">
              <a:lnSpc>
                <a:spcPts val="2799"/>
              </a:lnSpc>
            </a:pPr>
            <a:r>
              <a:rPr lang="en-US" sz="1999">
                <a:solidFill>
                  <a:srgbClr val="000000"/>
                </a:solidFill>
                <a:latin typeface="Poppins Light"/>
                <a:ea typeface="Poppins Light"/>
                <a:cs typeface="Poppins Light"/>
                <a:sym typeface="Poppins Light"/>
              </a:rPr>
              <a:t>Most economic, energy and fuel-composition series here are smooth and trend dominated exactly where a classical ARIMA model excels.</a:t>
            </a:r>
          </a:p>
          <a:p>
            <a:pPr algn="l">
              <a:lnSpc>
                <a:spcPts val="2799"/>
              </a:lnSpc>
            </a:pPr>
          </a:p>
        </p:txBody>
      </p:sp>
      <p:sp>
        <p:nvSpPr>
          <p:cNvPr name="TextBox 13" id="13"/>
          <p:cNvSpPr txBox="true"/>
          <p:nvPr/>
        </p:nvSpPr>
        <p:spPr>
          <a:xfrm rot="0">
            <a:off x="12650046" y="2876961"/>
            <a:ext cx="4977943" cy="1778000"/>
          </a:xfrm>
          <a:prstGeom prst="rect">
            <a:avLst/>
          </a:prstGeom>
        </p:spPr>
        <p:txBody>
          <a:bodyPr anchor="t" rtlCol="false" tIns="0" lIns="0" bIns="0" rIns="0">
            <a:spAutoFit/>
          </a:bodyPr>
          <a:lstStyle/>
          <a:p>
            <a:pPr algn="l">
              <a:lnSpc>
                <a:spcPts val="2800"/>
              </a:lnSpc>
            </a:pPr>
            <a:r>
              <a:rPr lang="en-US" sz="2000">
                <a:solidFill>
                  <a:srgbClr val="000000"/>
                </a:solidFill>
                <a:latin typeface="Poppins Light"/>
                <a:ea typeface="Poppins Light"/>
                <a:cs typeface="Poppins Light"/>
                <a:sym typeface="Poppins Light"/>
              </a:rPr>
              <a:t>Energy per capita is the one exception, where Prophet's seasonality/changepoint handling wins a reminder that the best method genuinely differs by series,.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0">
            <a:off x="10895003" y="1470501"/>
            <a:ext cx="6364297" cy="3082222"/>
          </a:xfrm>
          <a:custGeom>
            <a:avLst/>
            <a:gdLst/>
            <a:ahLst/>
            <a:cxnLst/>
            <a:rect r="r" b="b" t="t" l="l"/>
            <a:pathLst>
              <a:path h="3082222" w="6364297">
                <a:moveTo>
                  <a:pt x="0" y="0"/>
                </a:moveTo>
                <a:lnTo>
                  <a:pt x="6364297" y="0"/>
                </a:lnTo>
                <a:lnTo>
                  <a:pt x="6364297" y="3082222"/>
                </a:lnTo>
                <a:lnTo>
                  <a:pt x="0" y="3082222"/>
                </a:lnTo>
                <a:lnTo>
                  <a:pt x="0" y="0"/>
                </a:lnTo>
                <a:close/>
              </a:path>
            </a:pathLst>
          </a:custGeom>
          <a:blipFill>
            <a:blip r:embed="rId2"/>
            <a:stretch>
              <a:fillRect l="-2034" t="-9693" r="-2665" b="-141055"/>
            </a:stretch>
          </a:blipFill>
        </p:spPr>
      </p:sp>
      <p:sp>
        <p:nvSpPr>
          <p:cNvPr name="Freeform 3" id="3"/>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3">
              <a:alphaModFix amt="27000"/>
            </a:blip>
            <a:stretch>
              <a:fillRect l="-22095" t="0" r="-3456" b="0"/>
            </a:stretch>
          </a:blipFill>
        </p:spPr>
      </p:sp>
      <p:grpSp>
        <p:nvGrpSpPr>
          <p:cNvPr name="Group 4" id="4"/>
          <p:cNvGrpSpPr/>
          <p:nvPr/>
        </p:nvGrpSpPr>
        <p:grpSpPr>
          <a:xfrm rot="2518158">
            <a:off x="16423857" y="5465352"/>
            <a:ext cx="3280102" cy="7974061"/>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6" id="6"/>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281551" y="1169801"/>
            <a:ext cx="13453802" cy="7585390"/>
          </a:xfrm>
          <a:custGeom>
            <a:avLst/>
            <a:gdLst/>
            <a:ahLst/>
            <a:cxnLst/>
            <a:rect r="r" b="b" t="t" l="l"/>
            <a:pathLst>
              <a:path h="7585390" w="13453802">
                <a:moveTo>
                  <a:pt x="0" y="0"/>
                </a:moveTo>
                <a:lnTo>
                  <a:pt x="13453802" y="0"/>
                </a:lnTo>
                <a:lnTo>
                  <a:pt x="13453802" y="7585390"/>
                </a:lnTo>
                <a:lnTo>
                  <a:pt x="0" y="7585390"/>
                </a:lnTo>
                <a:lnTo>
                  <a:pt x="0" y="0"/>
                </a:lnTo>
                <a:close/>
              </a:path>
            </a:pathLst>
          </a:custGeom>
          <a:blipFill>
            <a:blip r:embed="rId4"/>
            <a:stretch>
              <a:fillRect l="0" t="0" r="-5065" b="0"/>
            </a:stretch>
          </a:blipFill>
        </p:spPr>
      </p:sp>
      <p:sp>
        <p:nvSpPr>
          <p:cNvPr name="TextBox 8" id="8"/>
          <p:cNvSpPr txBox="true"/>
          <p:nvPr/>
        </p:nvSpPr>
        <p:spPr>
          <a:xfrm rot="0">
            <a:off x="281551" y="415318"/>
            <a:ext cx="16115213" cy="1283914"/>
          </a:xfrm>
          <a:prstGeom prst="rect">
            <a:avLst/>
          </a:prstGeom>
        </p:spPr>
        <p:txBody>
          <a:bodyPr anchor="t" rtlCol="false" tIns="0" lIns="0" bIns="0" rIns="0">
            <a:spAutoFit/>
          </a:bodyPr>
          <a:lstStyle/>
          <a:p>
            <a:pPr algn="l">
              <a:lnSpc>
                <a:spcPts val="4994"/>
              </a:lnSpc>
            </a:pPr>
            <a:r>
              <a:rPr lang="en-US" sz="4582" b="true">
                <a:solidFill>
                  <a:srgbClr val="047650"/>
                </a:solidFill>
                <a:latin typeface="Garet Bold"/>
                <a:ea typeface="Garet Bold"/>
                <a:cs typeface="Garet Bold"/>
                <a:sym typeface="Garet Bold"/>
              </a:rPr>
              <a:t>THE 2025 FORECAST: TOP CO2 EMITTING COUNTRIES</a:t>
            </a:r>
          </a:p>
          <a:p>
            <a:pPr algn="l">
              <a:lnSpc>
                <a:spcPts val="510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TextBox 2" id="2"/>
          <p:cNvSpPr txBox="true"/>
          <p:nvPr/>
        </p:nvSpPr>
        <p:spPr>
          <a:xfrm rot="0">
            <a:off x="13575051" y="8449590"/>
            <a:ext cx="3061087" cy="396174"/>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DANI MARTINEZ</a:t>
            </a:r>
          </a:p>
        </p:txBody>
      </p:sp>
      <p:sp>
        <p:nvSpPr>
          <p:cNvPr name="TextBox 3" id="3"/>
          <p:cNvSpPr txBox="true"/>
          <p:nvPr/>
        </p:nvSpPr>
        <p:spPr>
          <a:xfrm rot="0">
            <a:off x="13828400" y="8745867"/>
            <a:ext cx="2554388" cy="396174"/>
          </a:xfrm>
          <a:prstGeom prst="rect">
            <a:avLst/>
          </a:prstGeom>
        </p:spPr>
        <p:txBody>
          <a:bodyPr anchor="t" rtlCol="false" tIns="0" lIns="0" bIns="0" rIns="0">
            <a:spAutoFit/>
          </a:bodyPr>
          <a:lstStyle/>
          <a:p>
            <a:pPr algn="ctr">
              <a:lnSpc>
                <a:spcPts val="3359"/>
              </a:lnSpc>
            </a:pPr>
            <a:r>
              <a:rPr lang="en-US" sz="2400">
                <a:solidFill>
                  <a:srgbClr val="F7FBFF"/>
                </a:solidFill>
                <a:latin typeface="Garet Light"/>
                <a:ea typeface="Garet Light"/>
                <a:cs typeface="Garet Light"/>
                <a:sym typeface="Garet Light"/>
              </a:rPr>
              <a:t>Job Title</a:t>
            </a:r>
          </a:p>
        </p:txBody>
      </p:sp>
      <p:sp>
        <p:nvSpPr>
          <p:cNvPr name="Freeform 4" id="4"/>
          <p:cNvSpPr/>
          <p:nvPr/>
        </p:nvSpPr>
        <p:spPr>
          <a:xfrm flipH="false" flipV="false" rot="-8100000">
            <a:off x="16512926" y="5850556"/>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5" id="5"/>
          <p:cNvGrpSpPr/>
          <p:nvPr/>
        </p:nvGrpSpPr>
        <p:grpSpPr>
          <a:xfrm rot="2518158">
            <a:off x="16107679" y="7633674"/>
            <a:ext cx="2182873" cy="5306652"/>
            <a:chOff x="0" y="0"/>
            <a:chExt cx="1622238" cy="3943726"/>
          </a:xfrm>
        </p:grpSpPr>
        <p:sp>
          <p:nvSpPr>
            <p:cNvPr name="Freeform 6" id="6"/>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7" id="7"/>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8" id="8"/>
          <p:cNvSpPr/>
          <p:nvPr/>
        </p:nvSpPr>
        <p:spPr>
          <a:xfrm flipH="false" flipV="false" rot="-2700000">
            <a:off x="15965934" y="9622592"/>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9" id="9"/>
          <p:cNvGrpSpPr/>
          <p:nvPr/>
        </p:nvGrpSpPr>
        <p:grpSpPr>
          <a:xfrm rot="2518158">
            <a:off x="17189457" y="8219467"/>
            <a:ext cx="1711172" cy="4159929"/>
            <a:chOff x="0" y="0"/>
            <a:chExt cx="1622238" cy="3943726"/>
          </a:xfrm>
        </p:grpSpPr>
        <p:sp>
          <p:nvSpPr>
            <p:cNvPr name="Freeform 10" id="10"/>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1" id="11"/>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2" id="12"/>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13" id="13"/>
          <p:cNvGrpSpPr/>
          <p:nvPr/>
        </p:nvGrpSpPr>
        <p:grpSpPr>
          <a:xfrm rot="7918158">
            <a:off x="-291672" y="7158680"/>
            <a:ext cx="2182873" cy="5306652"/>
            <a:chOff x="0" y="0"/>
            <a:chExt cx="1622238" cy="3943726"/>
          </a:xfrm>
        </p:grpSpPr>
        <p:sp>
          <p:nvSpPr>
            <p:cNvPr name="Freeform 14" id="1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5" id="15"/>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6" id="16"/>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17" id="17"/>
          <p:cNvGrpSpPr/>
          <p:nvPr/>
        </p:nvGrpSpPr>
        <p:grpSpPr>
          <a:xfrm rot="7918158">
            <a:off x="-264006" y="8382289"/>
            <a:ext cx="1711172" cy="4159929"/>
            <a:chOff x="0" y="0"/>
            <a:chExt cx="1622238" cy="3943726"/>
          </a:xfrm>
        </p:grpSpPr>
        <p:sp>
          <p:nvSpPr>
            <p:cNvPr name="Freeform 18" id="1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9" id="19"/>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20" id="20"/>
          <p:cNvSpPr txBox="true"/>
          <p:nvPr/>
        </p:nvSpPr>
        <p:spPr>
          <a:xfrm rot="0">
            <a:off x="591580" y="326278"/>
            <a:ext cx="6861880" cy="845825"/>
          </a:xfrm>
          <a:prstGeom prst="rect">
            <a:avLst/>
          </a:prstGeom>
        </p:spPr>
        <p:txBody>
          <a:bodyPr anchor="t" rtlCol="false" tIns="0" lIns="0" bIns="0" rIns="0">
            <a:spAutoFit/>
          </a:bodyPr>
          <a:lstStyle/>
          <a:p>
            <a:pPr algn="l">
              <a:lnSpc>
                <a:spcPts val="6540"/>
              </a:lnSpc>
            </a:pPr>
            <a:r>
              <a:rPr lang="en-US" sz="6000" b="true">
                <a:solidFill>
                  <a:srgbClr val="047650"/>
                </a:solidFill>
                <a:latin typeface="Garet Bold"/>
                <a:ea typeface="Garet Bold"/>
                <a:cs typeface="Garet Bold"/>
                <a:sym typeface="Garet Bold"/>
              </a:rPr>
              <a:t>SUMMARY</a:t>
            </a:r>
          </a:p>
        </p:txBody>
      </p:sp>
      <p:sp>
        <p:nvSpPr>
          <p:cNvPr name="TextBox 21" id="21"/>
          <p:cNvSpPr txBox="true"/>
          <p:nvPr/>
        </p:nvSpPr>
        <p:spPr>
          <a:xfrm rot="0">
            <a:off x="591580" y="1368891"/>
            <a:ext cx="16803216" cy="5784403"/>
          </a:xfrm>
          <a:prstGeom prst="rect">
            <a:avLst/>
          </a:prstGeom>
        </p:spPr>
        <p:txBody>
          <a:bodyPr anchor="t" rtlCol="false" tIns="0" lIns="0" bIns="0" rIns="0">
            <a:spAutoFit/>
          </a:bodyPr>
          <a:lstStyle/>
          <a:p>
            <a:pPr algn="l" marL="624509" indent="-312255" lvl="1">
              <a:lnSpc>
                <a:spcPts val="4049"/>
              </a:lnSpc>
              <a:buFont typeface="Arial"/>
              <a:buChar char="•"/>
            </a:pPr>
            <a:r>
              <a:rPr lang="en-US" sz="2892">
                <a:solidFill>
                  <a:srgbClr val="000000"/>
                </a:solidFill>
                <a:latin typeface="Poppins Light"/>
                <a:ea typeface="Poppins Light"/>
                <a:cs typeface="Poppins Light"/>
                <a:sym typeface="Poppins Light"/>
              </a:rPr>
              <a:t>Validation RMSE: 31.8 Mt vs. 36.6 Mt for persistence baseline</a:t>
            </a:r>
          </a:p>
          <a:p>
            <a:pPr algn="l" marL="624509" indent="-312255" lvl="1">
              <a:lnSpc>
                <a:spcPts val="4049"/>
              </a:lnSpc>
              <a:buFont typeface="Arial"/>
              <a:buChar char="•"/>
            </a:pPr>
            <a:r>
              <a:rPr lang="en-US" sz="2892">
                <a:solidFill>
                  <a:srgbClr val="000000"/>
                </a:solidFill>
                <a:latin typeface="Poppins Light"/>
                <a:ea typeface="Poppins Light"/>
                <a:cs typeface="Poppins Light"/>
                <a:sym typeface="Poppins Light"/>
              </a:rPr>
              <a:t>Covers 200 countries; forecasts any user-selected future year</a:t>
            </a:r>
          </a:p>
          <a:p>
            <a:pPr algn="l">
              <a:lnSpc>
                <a:spcPts val="4049"/>
              </a:lnSpc>
            </a:pPr>
          </a:p>
          <a:p>
            <a:pPr algn="l">
              <a:lnSpc>
                <a:spcPts val="4889"/>
              </a:lnSpc>
            </a:pPr>
          </a:p>
          <a:p>
            <a:pPr algn="l">
              <a:lnSpc>
                <a:spcPts val="4889"/>
              </a:lnSpc>
            </a:pPr>
            <a:r>
              <a:rPr lang="en-US" sz="3492" b="true">
                <a:solidFill>
                  <a:srgbClr val="047650"/>
                </a:solidFill>
                <a:latin typeface="Poppins Bold"/>
                <a:ea typeface="Poppins Bold"/>
                <a:cs typeface="Poppins Bold"/>
                <a:sym typeface="Poppins Bold"/>
              </a:rPr>
              <a:t>  </a:t>
            </a:r>
            <a:r>
              <a:rPr lang="en-US" sz="3492" b="true">
                <a:solidFill>
                  <a:srgbClr val="047650"/>
                </a:solidFill>
                <a:latin typeface="Poppins Bold"/>
                <a:ea typeface="Poppins Bold"/>
                <a:cs typeface="Poppins Bold"/>
                <a:sym typeface="Poppins Bold"/>
              </a:rPr>
              <a:t>Strengths</a:t>
            </a:r>
          </a:p>
          <a:p>
            <a:pPr algn="l" marL="624509" indent="-312255" lvl="1">
              <a:lnSpc>
                <a:spcPts val="4049"/>
              </a:lnSpc>
              <a:buFont typeface="Arial"/>
              <a:buChar char="•"/>
            </a:pPr>
            <a:r>
              <a:rPr lang="en-US" b="true" sz="2892">
                <a:solidFill>
                  <a:srgbClr val="000000"/>
                </a:solidFill>
                <a:latin typeface="Poppins Bold"/>
                <a:ea typeface="Poppins Bold"/>
                <a:cs typeface="Poppins Bold"/>
                <a:sym typeface="Poppins Bold"/>
              </a:rPr>
              <a:t>Transparent &amp; interpretable</a:t>
            </a:r>
            <a:r>
              <a:rPr lang="en-US" sz="2892">
                <a:solidFill>
                  <a:srgbClr val="000000"/>
                </a:solidFill>
                <a:latin typeface="Poppins Light"/>
                <a:ea typeface="Poppins Light"/>
                <a:cs typeface="Poppins Light"/>
                <a:sym typeface="Poppins Light"/>
              </a:rPr>
              <a:t> — uses economic, population, and fuel-mix data available at prediction time</a:t>
            </a:r>
          </a:p>
          <a:p>
            <a:pPr algn="l" marL="624509" indent="-312255" lvl="1">
              <a:lnSpc>
                <a:spcPts val="4049"/>
              </a:lnSpc>
              <a:buFont typeface="Arial"/>
              <a:buChar char="•"/>
            </a:pPr>
            <a:r>
              <a:rPr lang="en-US" b="true" sz="2892">
                <a:solidFill>
                  <a:srgbClr val="000000"/>
                </a:solidFill>
                <a:latin typeface="Poppins Bold"/>
                <a:ea typeface="Poppins Bold"/>
                <a:cs typeface="Poppins Bold"/>
                <a:sym typeface="Poppins Bold"/>
              </a:rPr>
              <a:t>Beats persistence</a:t>
            </a:r>
            <a:r>
              <a:rPr lang="en-US" sz="2892">
                <a:solidFill>
                  <a:srgbClr val="000000"/>
                </a:solidFill>
                <a:latin typeface="Poppins Light"/>
                <a:ea typeface="Poppins Light"/>
                <a:cs typeface="Poppins Light"/>
                <a:sym typeface="Poppins Light"/>
              </a:rPr>
              <a:t> — goes beyond "future = recent past" by capturing structural drivers (per-capita trends, fuel switching, demographics)</a:t>
            </a:r>
          </a:p>
          <a:p>
            <a:pPr algn="l" marL="624509" indent="-312255" lvl="1">
              <a:lnSpc>
                <a:spcPts val="4049"/>
              </a:lnSpc>
              <a:buFont typeface="Arial"/>
              <a:buChar char="•"/>
            </a:pPr>
            <a:r>
              <a:rPr lang="en-US" b="true" sz="2892">
                <a:solidFill>
                  <a:srgbClr val="000000"/>
                </a:solidFill>
                <a:latin typeface="Poppins Bold"/>
                <a:ea typeface="Poppins Bold"/>
                <a:cs typeface="Poppins Bold"/>
                <a:sym typeface="Poppins Bold"/>
              </a:rPr>
              <a:t>Policy-ready</a:t>
            </a:r>
            <a:r>
              <a:rPr lang="en-US" sz="2892">
                <a:solidFill>
                  <a:srgbClr val="000000"/>
                </a:solidFill>
                <a:latin typeface="Poppins Light"/>
                <a:ea typeface="Poppins Light"/>
                <a:cs typeface="Poppins Light"/>
                <a:sym typeface="Poppins Light"/>
              </a:rPr>
              <a:t> — no data leakage; genuine forecasting setup</a:t>
            </a:r>
          </a:p>
          <a:p>
            <a:pPr algn="l">
              <a:lnSpc>
                <a:spcPts val="404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TextBox 2" id="2"/>
          <p:cNvSpPr txBox="true"/>
          <p:nvPr/>
        </p:nvSpPr>
        <p:spPr>
          <a:xfrm rot="0">
            <a:off x="13575051" y="8449590"/>
            <a:ext cx="3061087" cy="396174"/>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DANI MARTINEZ</a:t>
            </a:r>
          </a:p>
        </p:txBody>
      </p:sp>
      <p:sp>
        <p:nvSpPr>
          <p:cNvPr name="Freeform 3" id="3"/>
          <p:cNvSpPr/>
          <p:nvPr/>
        </p:nvSpPr>
        <p:spPr>
          <a:xfrm flipH="false" flipV="false" rot="-8100000">
            <a:off x="16512926" y="5850556"/>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4" id="4"/>
          <p:cNvGrpSpPr/>
          <p:nvPr/>
        </p:nvGrpSpPr>
        <p:grpSpPr>
          <a:xfrm rot="2518158">
            <a:off x="16000832" y="728239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15965934" y="9622592"/>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8" id="8"/>
          <p:cNvGrpSpPr/>
          <p:nvPr/>
        </p:nvGrpSpPr>
        <p:grpSpPr>
          <a:xfrm rot="2518158">
            <a:off x="17189457" y="8219467"/>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1" id="11"/>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12" id="12"/>
          <p:cNvGrpSpPr/>
          <p:nvPr/>
        </p:nvGrpSpPr>
        <p:grpSpPr>
          <a:xfrm rot="7918158">
            <a:off x="-136144" y="6856153"/>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16" id="16"/>
          <p:cNvGrpSpPr/>
          <p:nvPr/>
        </p:nvGrpSpPr>
        <p:grpSpPr>
          <a:xfrm rot="7918158">
            <a:off x="-264006" y="8382289"/>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9" id="19"/>
          <p:cNvSpPr txBox="true"/>
          <p:nvPr/>
        </p:nvSpPr>
        <p:spPr>
          <a:xfrm rot="0">
            <a:off x="591580" y="326278"/>
            <a:ext cx="15571444" cy="845825"/>
          </a:xfrm>
          <a:prstGeom prst="rect">
            <a:avLst/>
          </a:prstGeom>
        </p:spPr>
        <p:txBody>
          <a:bodyPr anchor="t" rtlCol="false" tIns="0" lIns="0" bIns="0" rIns="0">
            <a:spAutoFit/>
          </a:bodyPr>
          <a:lstStyle/>
          <a:p>
            <a:pPr algn="l">
              <a:lnSpc>
                <a:spcPts val="6540"/>
              </a:lnSpc>
            </a:pPr>
            <a:r>
              <a:rPr lang="en-US" sz="6000" b="true">
                <a:solidFill>
                  <a:srgbClr val="047650"/>
                </a:solidFill>
                <a:latin typeface="Garet Bold"/>
                <a:ea typeface="Garet Bold"/>
                <a:cs typeface="Garet Bold"/>
                <a:sym typeface="Garet Bold"/>
              </a:rPr>
              <a:t>LIMITATIONS</a:t>
            </a:r>
          </a:p>
        </p:txBody>
      </p:sp>
      <p:sp>
        <p:nvSpPr>
          <p:cNvPr name="TextBox 20" id="20"/>
          <p:cNvSpPr txBox="true"/>
          <p:nvPr/>
        </p:nvSpPr>
        <p:spPr>
          <a:xfrm rot="0">
            <a:off x="591580" y="1775938"/>
            <a:ext cx="13914837" cy="4484053"/>
          </a:xfrm>
          <a:prstGeom prst="rect">
            <a:avLst/>
          </a:prstGeom>
        </p:spPr>
        <p:txBody>
          <a:bodyPr anchor="t" rtlCol="false" tIns="0" lIns="0" bIns="0" rIns="0">
            <a:spAutoFit/>
          </a:bodyPr>
          <a:lstStyle/>
          <a:p>
            <a:pPr algn="l" marL="620720" indent="-310360" lvl="1">
              <a:lnSpc>
                <a:spcPts val="3392"/>
              </a:lnSpc>
              <a:buFont typeface="Arial"/>
              <a:buChar char="•"/>
            </a:pPr>
            <a:r>
              <a:rPr lang="en-US" b="true" sz="2875">
                <a:solidFill>
                  <a:srgbClr val="000000"/>
                </a:solidFill>
                <a:latin typeface="Poppins Bold"/>
                <a:ea typeface="Poppins Bold"/>
                <a:cs typeface="Poppins Bold"/>
                <a:sym typeface="Poppins Bold"/>
              </a:rPr>
              <a:t>Uneven historical coverage</a:t>
            </a:r>
          </a:p>
          <a:p>
            <a:pPr algn="l">
              <a:lnSpc>
                <a:spcPts val="3392"/>
              </a:lnSpc>
            </a:pPr>
          </a:p>
          <a:p>
            <a:pPr algn="l" marL="620720" indent="-310360" lvl="1">
              <a:lnSpc>
                <a:spcPts val="3392"/>
              </a:lnSpc>
              <a:buFont typeface="Arial"/>
              <a:buChar char="•"/>
            </a:pPr>
            <a:r>
              <a:rPr lang="en-US" b="true" sz="2875">
                <a:solidFill>
                  <a:srgbClr val="000000"/>
                </a:solidFill>
                <a:latin typeface="Poppins Bold"/>
                <a:ea typeface="Poppins Bold"/>
                <a:cs typeface="Poppins Bold"/>
                <a:sym typeface="Poppins Bold"/>
              </a:rPr>
              <a:t>Missing data  </a:t>
            </a:r>
          </a:p>
          <a:p>
            <a:pPr algn="l">
              <a:lnSpc>
                <a:spcPts val="3392"/>
              </a:lnSpc>
            </a:pPr>
          </a:p>
          <a:p>
            <a:pPr algn="l" marL="620720" indent="-310360" lvl="1">
              <a:lnSpc>
                <a:spcPts val="3392"/>
              </a:lnSpc>
              <a:buFont typeface="Arial"/>
              <a:buChar char="•"/>
            </a:pPr>
            <a:r>
              <a:rPr lang="en-US" b="true" sz="2875">
                <a:solidFill>
                  <a:srgbClr val="000000"/>
                </a:solidFill>
                <a:latin typeface="Poppins Bold"/>
                <a:ea typeface="Poppins Bold"/>
                <a:cs typeface="Poppins Bold"/>
                <a:sym typeface="Poppins Bold"/>
              </a:rPr>
              <a:t>Structural breaks</a:t>
            </a:r>
          </a:p>
          <a:p>
            <a:pPr algn="l">
              <a:lnSpc>
                <a:spcPts val="3392"/>
              </a:lnSpc>
            </a:pPr>
          </a:p>
          <a:p>
            <a:pPr algn="l" marL="620720" indent="-310360" lvl="1">
              <a:lnSpc>
                <a:spcPts val="1466"/>
              </a:lnSpc>
              <a:buFont typeface="Arial"/>
              <a:buChar char="•"/>
            </a:pPr>
            <a:r>
              <a:rPr lang="en-US" b="true" sz="2875">
                <a:solidFill>
                  <a:srgbClr val="000000"/>
                </a:solidFill>
                <a:latin typeface="Poppins Bold"/>
                <a:ea typeface="Poppins Bold"/>
                <a:cs typeface="Poppins Bold"/>
                <a:sym typeface="Poppins Bold"/>
              </a:rPr>
              <a:t>Limited policy and technology variables</a:t>
            </a:r>
          </a:p>
          <a:p>
            <a:pPr algn="l">
              <a:lnSpc>
                <a:spcPts val="3392"/>
              </a:lnSpc>
            </a:pPr>
          </a:p>
          <a:p>
            <a:pPr algn="l" marL="620720" indent="-310360" lvl="1">
              <a:lnSpc>
                <a:spcPts val="3392"/>
              </a:lnSpc>
              <a:buFont typeface="Arial"/>
              <a:buChar char="•"/>
            </a:pPr>
            <a:r>
              <a:rPr lang="en-US" b="true" sz="2875">
                <a:solidFill>
                  <a:srgbClr val="000000"/>
                </a:solidFill>
                <a:latin typeface="Poppins Bold"/>
                <a:ea typeface="Poppins Bold"/>
                <a:cs typeface="Poppins Bold"/>
                <a:sym typeface="Poppins Bold"/>
              </a:rPr>
              <a:t>Linear model assumption</a:t>
            </a:r>
          </a:p>
          <a:p>
            <a:pPr algn="l">
              <a:lnSpc>
                <a:spcPts val="3392"/>
              </a:lnSpc>
            </a:pPr>
          </a:p>
          <a:p>
            <a:pPr algn="l" marL="620720" indent="-310360" lvl="1">
              <a:lnSpc>
                <a:spcPts val="3392"/>
              </a:lnSpc>
              <a:buFont typeface="Arial"/>
              <a:buChar char="•"/>
            </a:pPr>
            <a:r>
              <a:rPr lang="en-US" b="true" sz="2875">
                <a:solidFill>
                  <a:srgbClr val="000000"/>
                </a:solidFill>
                <a:latin typeface="Poppins Bold"/>
                <a:ea typeface="Poppins Bold"/>
                <a:cs typeface="Poppins Bold"/>
                <a:sym typeface="Poppins Bold"/>
              </a:rPr>
              <a:t>Country-level differences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TextBox 2" id="2"/>
          <p:cNvSpPr txBox="true"/>
          <p:nvPr/>
        </p:nvSpPr>
        <p:spPr>
          <a:xfrm rot="0">
            <a:off x="13575051" y="8449590"/>
            <a:ext cx="3061087" cy="396174"/>
          </a:xfrm>
          <a:prstGeom prst="rect">
            <a:avLst/>
          </a:prstGeom>
        </p:spPr>
        <p:txBody>
          <a:bodyPr anchor="t" rtlCol="false" tIns="0" lIns="0" bIns="0" rIns="0">
            <a:spAutoFit/>
          </a:bodyPr>
          <a:lstStyle/>
          <a:p>
            <a:pPr algn="ctr">
              <a:lnSpc>
                <a:spcPts val="3359"/>
              </a:lnSpc>
            </a:pPr>
            <a:r>
              <a:rPr lang="en-US" b="true" sz="2400">
                <a:solidFill>
                  <a:srgbClr val="F7FBFF"/>
                </a:solidFill>
                <a:latin typeface="Garet Bold"/>
                <a:ea typeface="Garet Bold"/>
                <a:cs typeface="Garet Bold"/>
                <a:sym typeface="Garet Bold"/>
              </a:rPr>
              <a:t>DANI MARTINEZ</a:t>
            </a:r>
          </a:p>
        </p:txBody>
      </p:sp>
      <p:sp>
        <p:nvSpPr>
          <p:cNvPr name="Freeform 3" id="3"/>
          <p:cNvSpPr/>
          <p:nvPr/>
        </p:nvSpPr>
        <p:spPr>
          <a:xfrm flipH="false" flipV="false" rot="-8100000">
            <a:off x="16512926" y="5850556"/>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4" id="4"/>
          <p:cNvGrpSpPr/>
          <p:nvPr/>
        </p:nvGrpSpPr>
        <p:grpSpPr>
          <a:xfrm rot="2518158">
            <a:off x="16000832" y="728239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15965934" y="9622592"/>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8" id="8"/>
          <p:cNvGrpSpPr/>
          <p:nvPr/>
        </p:nvGrpSpPr>
        <p:grpSpPr>
          <a:xfrm rot="2518158">
            <a:off x="17189457" y="8219467"/>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1" id="11"/>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12" id="12"/>
          <p:cNvGrpSpPr/>
          <p:nvPr/>
        </p:nvGrpSpPr>
        <p:grpSpPr>
          <a:xfrm rot="7918158">
            <a:off x="-136144" y="6856153"/>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16" id="16"/>
          <p:cNvGrpSpPr/>
          <p:nvPr/>
        </p:nvGrpSpPr>
        <p:grpSpPr>
          <a:xfrm rot="7918158">
            <a:off x="-264006" y="8382289"/>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TextBox 19" id="19"/>
          <p:cNvSpPr txBox="true"/>
          <p:nvPr/>
        </p:nvSpPr>
        <p:spPr>
          <a:xfrm rot="0">
            <a:off x="591580" y="326278"/>
            <a:ext cx="15571444" cy="845825"/>
          </a:xfrm>
          <a:prstGeom prst="rect">
            <a:avLst/>
          </a:prstGeom>
        </p:spPr>
        <p:txBody>
          <a:bodyPr anchor="t" rtlCol="false" tIns="0" lIns="0" bIns="0" rIns="0">
            <a:spAutoFit/>
          </a:bodyPr>
          <a:lstStyle/>
          <a:p>
            <a:pPr algn="l">
              <a:lnSpc>
                <a:spcPts val="6540"/>
              </a:lnSpc>
            </a:pPr>
            <a:r>
              <a:rPr lang="en-US" sz="6000" b="true">
                <a:solidFill>
                  <a:srgbClr val="047650"/>
                </a:solidFill>
                <a:latin typeface="Garet Bold"/>
                <a:ea typeface="Garet Bold"/>
                <a:cs typeface="Garet Bold"/>
                <a:sym typeface="Garet Bold"/>
              </a:rPr>
              <a:t>RECOMMENDATIONS</a:t>
            </a:r>
          </a:p>
        </p:txBody>
      </p:sp>
      <p:sp>
        <p:nvSpPr>
          <p:cNvPr name="TextBox 20" id="20"/>
          <p:cNvSpPr txBox="true"/>
          <p:nvPr/>
        </p:nvSpPr>
        <p:spPr>
          <a:xfrm rot="0">
            <a:off x="582055" y="1556863"/>
            <a:ext cx="13914837" cy="4230049"/>
          </a:xfrm>
          <a:prstGeom prst="rect">
            <a:avLst/>
          </a:prstGeom>
        </p:spPr>
        <p:txBody>
          <a:bodyPr anchor="t" rtlCol="false" tIns="0" lIns="0" bIns="0" rIns="0">
            <a:spAutoFit/>
          </a:bodyPr>
          <a:lstStyle/>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Add prediction intervals.</a:t>
            </a:r>
          </a:p>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propagate uncertainty.</a:t>
            </a:r>
          </a:p>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include policy and technological variables.</a:t>
            </a:r>
          </a:p>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explore hierarchical/multi-level models. </a:t>
            </a:r>
          </a:p>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periodically train the model.</a:t>
            </a:r>
          </a:p>
          <a:p>
            <a:pPr algn="l" marL="620720" indent="-310360" lvl="1">
              <a:lnSpc>
                <a:spcPts val="5692"/>
              </a:lnSpc>
              <a:buFont typeface="Arial"/>
              <a:buChar char="•"/>
            </a:pPr>
            <a:r>
              <a:rPr lang="en-US" b="true" sz="2875">
                <a:solidFill>
                  <a:srgbClr val="000000"/>
                </a:solidFill>
                <a:latin typeface="Poppins Bold"/>
                <a:ea typeface="Poppins Bold"/>
                <a:cs typeface="Poppins Bold"/>
                <a:sym typeface="Poppins Bold"/>
              </a:rPr>
              <a:t>Develop what if scenerios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8100000">
            <a:off x="15222426" y="2271708"/>
            <a:ext cx="771811" cy="10559843"/>
          </a:xfrm>
          <a:custGeom>
            <a:avLst/>
            <a:gdLst/>
            <a:ahLst/>
            <a:cxnLst/>
            <a:rect r="r" b="b" t="t" l="l"/>
            <a:pathLst>
              <a:path h="10559843" w="771811">
                <a:moveTo>
                  <a:pt x="0" y="0"/>
                </a:moveTo>
                <a:lnTo>
                  <a:pt x="771812" y="0"/>
                </a:lnTo>
                <a:lnTo>
                  <a:pt x="771812" y="10559843"/>
                </a:lnTo>
                <a:lnTo>
                  <a:pt x="0" y="10559843"/>
                </a:lnTo>
                <a:lnTo>
                  <a:pt x="0" y="0"/>
                </a:lnTo>
                <a:close/>
              </a:path>
            </a:pathLst>
          </a:custGeom>
          <a:blipFill>
            <a:blip r:embed="rId2"/>
            <a:stretch>
              <a:fillRect l="-331230" t="0" r="-108582" b="0"/>
            </a:stretch>
          </a:blipFill>
        </p:spPr>
      </p:sp>
      <p:grpSp>
        <p:nvGrpSpPr>
          <p:cNvPr name="Group 3" id="3"/>
          <p:cNvGrpSpPr/>
          <p:nvPr/>
        </p:nvGrpSpPr>
        <p:grpSpPr>
          <a:xfrm rot="2518158">
            <a:off x="14725319" y="3959465"/>
            <a:ext cx="4184293" cy="10172185"/>
            <a:chOff x="0" y="0"/>
            <a:chExt cx="1622238" cy="3943726"/>
          </a:xfrm>
        </p:grpSpPr>
        <p:sp>
          <p:nvSpPr>
            <p:cNvPr name="Freeform 4" id="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9464"/>
            </a:solidFill>
          </p:spPr>
        </p:sp>
        <p:sp>
          <p:nvSpPr>
            <p:cNvPr name="TextBox 5" id="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3">
              <a:alphaModFix amt="27000"/>
            </a:blip>
            <a:stretch>
              <a:fillRect l="-22095" t="0" r="-3456" b="0"/>
            </a:stretch>
          </a:blipFill>
        </p:spPr>
      </p:sp>
      <p:grpSp>
        <p:nvGrpSpPr>
          <p:cNvPr name="Group 7" id="7"/>
          <p:cNvGrpSpPr/>
          <p:nvPr/>
        </p:nvGrpSpPr>
        <p:grpSpPr>
          <a:xfrm rot="2518158">
            <a:off x="16423857" y="5465352"/>
            <a:ext cx="3280102" cy="7974061"/>
            <a:chOff x="0" y="0"/>
            <a:chExt cx="1622238" cy="3943726"/>
          </a:xfrm>
        </p:grpSpPr>
        <p:sp>
          <p:nvSpPr>
            <p:cNvPr name="Freeform 8" id="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B176"/>
            </a:solidFill>
          </p:spPr>
        </p:sp>
        <p:sp>
          <p:nvSpPr>
            <p:cNvPr name="TextBox 9" id="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513001" y="120891"/>
            <a:ext cx="6864706" cy="1209240"/>
          </a:xfrm>
          <a:prstGeom prst="rect">
            <a:avLst/>
          </a:prstGeom>
        </p:spPr>
        <p:txBody>
          <a:bodyPr anchor="t" rtlCol="false" tIns="0" lIns="0" bIns="0" rIns="0">
            <a:spAutoFit/>
          </a:bodyPr>
          <a:lstStyle/>
          <a:p>
            <a:pPr algn="l">
              <a:lnSpc>
                <a:spcPts val="9998"/>
              </a:lnSpc>
            </a:pPr>
            <a:r>
              <a:rPr lang="en-US" sz="7142" b="true">
                <a:solidFill>
                  <a:srgbClr val="047650"/>
                </a:solidFill>
                <a:latin typeface="Garet Bold"/>
                <a:ea typeface="Garet Bold"/>
                <a:cs typeface="Garet Bold"/>
                <a:sym typeface="Garet Bold"/>
              </a:rPr>
              <a:t>CONCLUSION</a:t>
            </a:r>
          </a:p>
        </p:txBody>
      </p:sp>
      <p:sp>
        <p:nvSpPr>
          <p:cNvPr name="TextBox 11" id="11"/>
          <p:cNvSpPr txBox="true"/>
          <p:nvPr/>
        </p:nvSpPr>
        <p:spPr>
          <a:xfrm rot="0">
            <a:off x="513001" y="1659488"/>
            <a:ext cx="16746299" cy="5234854"/>
          </a:xfrm>
          <a:prstGeom prst="rect">
            <a:avLst/>
          </a:prstGeom>
        </p:spPr>
        <p:txBody>
          <a:bodyPr anchor="t" rtlCol="false" tIns="0" lIns="0" bIns="0" rIns="0">
            <a:spAutoFit/>
          </a:bodyPr>
          <a:lstStyle/>
          <a:p>
            <a:pPr algn="l">
              <a:lnSpc>
                <a:spcPts val="2962"/>
              </a:lnSpc>
            </a:pPr>
            <a:r>
              <a:rPr lang="en-US" sz="2693" b="true">
                <a:solidFill>
                  <a:srgbClr val="000000"/>
                </a:solidFill>
                <a:latin typeface="Poppins Bold"/>
                <a:ea typeface="Poppins Bold"/>
                <a:cs typeface="Poppins Bold"/>
                <a:sym typeface="Poppins Bold"/>
              </a:rPr>
              <a:t>Ridge remains the strongest feature-based model</a:t>
            </a:r>
          </a:p>
          <a:p>
            <a:pPr algn="l">
              <a:lnSpc>
                <a:spcPts val="2962"/>
              </a:lnSpc>
            </a:pPr>
            <a:r>
              <a:rPr lang="en-US" sz="2693">
                <a:solidFill>
                  <a:srgbClr val="000000"/>
                </a:solidFill>
                <a:latin typeface="Poppins"/>
                <a:ea typeface="Poppins"/>
                <a:cs typeface="Poppins"/>
                <a:sym typeface="Poppins"/>
              </a:rPr>
              <a:t>Test MAE 6.11, RMSE 32.62, R² 0.999 on 2019–2024, refit on the full 1950–2024 record for production</a:t>
            </a:r>
          </a:p>
          <a:p>
            <a:pPr algn="l">
              <a:lnSpc>
                <a:spcPts val="2962"/>
              </a:lnSpc>
            </a:pPr>
          </a:p>
          <a:p>
            <a:pPr algn="l">
              <a:lnSpc>
                <a:spcPts val="2962"/>
              </a:lnSpc>
            </a:pPr>
          </a:p>
          <a:p>
            <a:pPr algn="l">
              <a:lnSpc>
                <a:spcPts val="2962"/>
              </a:lnSpc>
            </a:pPr>
            <a:r>
              <a:rPr lang="en-US" sz="2693" b="true">
                <a:solidFill>
                  <a:srgbClr val="000000"/>
                </a:solidFill>
                <a:latin typeface="Poppins Bold"/>
                <a:ea typeface="Poppins Bold"/>
                <a:cs typeface="Poppins Bold"/>
                <a:sym typeface="Poppins Bold"/>
              </a:rPr>
              <a:t>ARIMA dominates feature forecasting</a:t>
            </a:r>
          </a:p>
          <a:p>
            <a:pPr algn="l">
              <a:lnSpc>
                <a:spcPts val="2962"/>
              </a:lnSpc>
            </a:pPr>
            <a:r>
              <a:rPr lang="en-US" sz="2693">
                <a:solidFill>
                  <a:srgbClr val="000000"/>
                </a:solidFill>
                <a:latin typeface="Poppins"/>
                <a:ea typeface="Poppins"/>
                <a:cs typeface="Poppins"/>
                <a:sym typeface="Poppins"/>
              </a:rPr>
              <a:t>Non-CO₂ predictors are best forecast with ARIMA; Prophet wins only energy per capita.</a:t>
            </a:r>
          </a:p>
          <a:p>
            <a:pPr algn="l">
              <a:lnSpc>
                <a:spcPts val="2962"/>
              </a:lnSpc>
            </a:pPr>
          </a:p>
          <a:p>
            <a:pPr algn="l">
              <a:lnSpc>
                <a:spcPts val="2962"/>
              </a:lnSpc>
            </a:pPr>
          </a:p>
          <a:p>
            <a:pPr algn="l">
              <a:lnSpc>
                <a:spcPts val="2962"/>
              </a:lnSpc>
            </a:pPr>
            <a:r>
              <a:rPr lang="en-US" sz="2693" b="true">
                <a:solidFill>
                  <a:srgbClr val="000000"/>
                </a:solidFill>
                <a:latin typeface="Poppins Bold"/>
                <a:ea typeface="Poppins Bold"/>
                <a:cs typeface="Poppins Bold"/>
                <a:sym typeface="Poppins Bold"/>
              </a:rPr>
              <a:t>Forecasts are decision support, not certainty</a:t>
            </a:r>
          </a:p>
          <a:p>
            <a:pPr algn="l">
              <a:lnSpc>
                <a:spcPts val="2962"/>
              </a:lnSpc>
            </a:pPr>
            <a:r>
              <a:rPr lang="en-US" sz="2693">
                <a:solidFill>
                  <a:srgbClr val="000000"/>
                </a:solidFill>
                <a:latin typeface="Poppins"/>
                <a:ea typeface="Poppins"/>
                <a:cs typeface="Poppins"/>
                <a:sym typeface="Poppins"/>
              </a:rPr>
              <a:t>China, the US and India dominate the 2025 outlook treat every number alongside its hold-out error.</a:t>
            </a:r>
          </a:p>
          <a:p>
            <a:pPr algn="l">
              <a:lnSpc>
                <a:spcPts val="2962"/>
              </a:lnSpc>
            </a:pPr>
          </a:p>
          <a:p>
            <a:pPr algn="l">
              <a:lnSpc>
                <a:spcPts val="2962"/>
              </a:lnSpc>
            </a:pPr>
          </a:p>
          <a:p>
            <a:pPr algn="l">
              <a:lnSpc>
                <a:spcPts val="2962"/>
              </a:lnSpc>
            </a:pPr>
          </a:p>
        </p:txBody>
      </p:sp>
      <p:grpSp>
        <p:nvGrpSpPr>
          <p:cNvPr name="Group 12" id="12"/>
          <p:cNvGrpSpPr/>
          <p:nvPr/>
        </p:nvGrpSpPr>
        <p:grpSpPr>
          <a:xfrm rot="-3099347">
            <a:off x="-2781102" y="3438210"/>
            <a:ext cx="6159434" cy="14973834"/>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47650"/>
            </a:solidFill>
          </p:spPr>
        </p:sp>
        <p:sp>
          <p:nvSpPr>
            <p:cNvPr name="TextBox 14" id="14"/>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2909127">
            <a:off x="642794" y="2271708"/>
            <a:ext cx="771811" cy="10559843"/>
          </a:xfrm>
          <a:custGeom>
            <a:avLst/>
            <a:gdLst/>
            <a:ahLst/>
            <a:cxnLst/>
            <a:rect r="r" b="b" t="t" l="l"/>
            <a:pathLst>
              <a:path h="10559843" w="771811">
                <a:moveTo>
                  <a:pt x="0" y="0"/>
                </a:moveTo>
                <a:lnTo>
                  <a:pt x="771812" y="0"/>
                </a:lnTo>
                <a:lnTo>
                  <a:pt x="771812" y="10559843"/>
                </a:lnTo>
                <a:lnTo>
                  <a:pt x="0" y="10559843"/>
                </a:lnTo>
                <a:lnTo>
                  <a:pt x="0" y="0"/>
                </a:lnTo>
                <a:close/>
              </a:path>
            </a:pathLst>
          </a:custGeom>
          <a:blipFill>
            <a:blip r:embed="rId2"/>
            <a:stretch>
              <a:fillRect l="-331230" t="0" r="-108582"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0">
            <a:off x="-648645" y="1949119"/>
            <a:ext cx="19585289" cy="5702295"/>
            <a:chOff x="0" y="0"/>
            <a:chExt cx="5158265" cy="1501839"/>
          </a:xfrm>
        </p:grpSpPr>
        <p:sp>
          <p:nvSpPr>
            <p:cNvPr name="Freeform 3" id="3"/>
            <p:cNvSpPr/>
            <p:nvPr/>
          </p:nvSpPr>
          <p:spPr>
            <a:xfrm flipH="false" flipV="false" rot="0">
              <a:off x="0" y="0"/>
              <a:ext cx="5158265" cy="1501839"/>
            </a:xfrm>
            <a:custGeom>
              <a:avLst/>
              <a:gdLst/>
              <a:ahLst/>
              <a:cxnLst/>
              <a:rect r="r" b="b" t="t" l="l"/>
              <a:pathLst>
                <a:path h="1501839" w="5158265">
                  <a:moveTo>
                    <a:pt x="0" y="0"/>
                  </a:moveTo>
                  <a:lnTo>
                    <a:pt x="5158265" y="0"/>
                  </a:lnTo>
                  <a:lnTo>
                    <a:pt x="5158265" y="1501839"/>
                  </a:lnTo>
                  <a:lnTo>
                    <a:pt x="0" y="1501839"/>
                  </a:lnTo>
                  <a:close/>
                </a:path>
              </a:pathLst>
            </a:custGeom>
            <a:solidFill>
              <a:srgbClr val="047650"/>
            </a:solidFill>
          </p:spPr>
        </p:sp>
        <p:sp>
          <p:nvSpPr>
            <p:cNvPr name="TextBox 4" id="4"/>
            <p:cNvSpPr txBox="true"/>
            <p:nvPr/>
          </p:nvSpPr>
          <p:spPr>
            <a:xfrm>
              <a:off x="0" y="-38100"/>
              <a:ext cx="5158265" cy="1539939"/>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2700000">
            <a:off x="10730600" y="4170050"/>
            <a:ext cx="6040494" cy="1054341"/>
          </a:xfrm>
          <a:custGeom>
            <a:avLst/>
            <a:gdLst/>
            <a:ahLst/>
            <a:cxnLst/>
            <a:rect r="r" b="b" t="t" l="l"/>
            <a:pathLst>
              <a:path h="1054341" w="6040494">
                <a:moveTo>
                  <a:pt x="0" y="0"/>
                </a:moveTo>
                <a:lnTo>
                  <a:pt x="6040494" y="0"/>
                </a:lnTo>
                <a:lnTo>
                  <a:pt x="6040494" y="1054341"/>
                </a:lnTo>
                <a:lnTo>
                  <a:pt x="0" y="1054341"/>
                </a:lnTo>
                <a:lnTo>
                  <a:pt x="0" y="0"/>
                </a:lnTo>
                <a:close/>
              </a:path>
            </a:pathLst>
          </a:custGeom>
          <a:blipFill>
            <a:blip r:embed="rId2">
              <a:alphaModFix amt="50000"/>
            </a:blip>
            <a:stretch>
              <a:fillRect l="0" t="0" r="0" b="0"/>
            </a:stretch>
          </a:blipFill>
        </p:spPr>
      </p:sp>
      <p:sp>
        <p:nvSpPr>
          <p:cNvPr name="Freeform 6" id="6"/>
          <p:cNvSpPr/>
          <p:nvPr/>
        </p:nvSpPr>
        <p:spPr>
          <a:xfrm flipH="false" flipV="false" rot="8100000">
            <a:off x="10730600" y="293735"/>
            <a:ext cx="6040494" cy="1054341"/>
          </a:xfrm>
          <a:custGeom>
            <a:avLst/>
            <a:gdLst/>
            <a:ahLst/>
            <a:cxnLst/>
            <a:rect r="r" b="b" t="t" l="l"/>
            <a:pathLst>
              <a:path h="1054341" w="6040494">
                <a:moveTo>
                  <a:pt x="0" y="0"/>
                </a:moveTo>
                <a:lnTo>
                  <a:pt x="6040494" y="0"/>
                </a:lnTo>
                <a:lnTo>
                  <a:pt x="6040494" y="1054340"/>
                </a:lnTo>
                <a:lnTo>
                  <a:pt x="0" y="1054340"/>
                </a:lnTo>
                <a:lnTo>
                  <a:pt x="0" y="0"/>
                </a:lnTo>
                <a:close/>
              </a:path>
            </a:pathLst>
          </a:custGeom>
          <a:blipFill>
            <a:blip r:embed="rId2">
              <a:alphaModFix amt="50000"/>
            </a:blip>
            <a:stretch>
              <a:fillRect l="0" t="0" r="0" b="0"/>
            </a:stretch>
          </a:blipFill>
        </p:spPr>
      </p:sp>
      <p:sp>
        <p:nvSpPr>
          <p:cNvPr name="TextBox 7" id="7"/>
          <p:cNvSpPr txBox="true"/>
          <p:nvPr/>
        </p:nvSpPr>
        <p:spPr>
          <a:xfrm rot="0">
            <a:off x="181311" y="3883436"/>
            <a:ext cx="14701296" cy="1405727"/>
          </a:xfrm>
          <a:prstGeom prst="rect">
            <a:avLst/>
          </a:prstGeom>
        </p:spPr>
        <p:txBody>
          <a:bodyPr anchor="t" rtlCol="false" tIns="0" lIns="0" bIns="0" rIns="0">
            <a:spAutoFit/>
          </a:bodyPr>
          <a:lstStyle/>
          <a:p>
            <a:pPr algn="l">
              <a:lnSpc>
                <a:spcPts val="10803"/>
              </a:lnSpc>
            </a:pPr>
            <a:r>
              <a:rPr lang="en-US" sz="9911" b="true">
                <a:solidFill>
                  <a:srgbClr val="F7FBFF"/>
                </a:solidFill>
                <a:latin typeface="Garet Bold"/>
                <a:ea typeface="Garet Bold"/>
                <a:cs typeface="Garet Bold"/>
                <a:sym typeface="Garet Bold"/>
              </a:rPr>
              <a:t>DEPLOYMENT</a:t>
            </a:r>
          </a:p>
        </p:txBody>
      </p:sp>
      <p:grpSp>
        <p:nvGrpSpPr>
          <p:cNvPr name="Group 8" id="8"/>
          <p:cNvGrpSpPr/>
          <p:nvPr/>
        </p:nvGrpSpPr>
        <p:grpSpPr>
          <a:xfrm rot="0">
            <a:off x="11741914" y="-1271750"/>
            <a:ext cx="7932947" cy="7932947"/>
            <a:chOff x="0" y="0"/>
            <a:chExt cx="812800" cy="812800"/>
          </a:xfrm>
        </p:grpSpPr>
        <p:sp>
          <p:nvSpPr>
            <p:cNvPr name="Freeform 9" id="9"/>
            <p:cNvSpPr/>
            <p:nvPr/>
          </p:nvSpPr>
          <p:spPr>
            <a:xfrm flipH="false" flipV="false" rot="0">
              <a:off x="22637" y="22637"/>
              <a:ext cx="767525" cy="767525"/>
            </a:xfrm>
            <a:custGeom>
              <a:avLst/>
              <a:gdLst/>
              <a:ahLst/>
              <a:cxnLst/>
              <a:rect r="r" b="b" t="t" l="l"/>
              <a:pathLst>
                <a:path h="767525" w="767525">
                  <a:moveTo>
                    <a:pt x="422407" y="16007"/>
                  </a:moveTo>
                  <a:lnTo>
                    <a:pt x="751519" y="345119"/>
                  </a:lnTo>
                  <a:cubicBezTo>
                    <a:pt x="761768" y="355368"/>
                    <a:pt x="767526" y="369269"/>
                    <a:pt x="767526" y="383763"/>
                  </a:cubicBezTo>
                  <a:cubicBezTo>
                    <a:pt x="767526" y="398257"/>
                    <a:pt x="761768" y="412158"/>
                    <a:pt x="751519" y="422407"/>
                  </a:cubicBezTo>
                  <a:lnTo>
                    <a:pt x="422407" y="751519"/>
                  </a:lnTo>
                  <a:cubicBezTo>
                    <a:pt x="412158" y="761768"/>
                    <a:pt x="398257" y="767526"/>
                    <a:pt x="383763" y="767526"/>
                  </a:cubicBezTo>
                  <a:cubicBezTo>
                    <a:pt x="369269" y="767526"/>
                    <a:pt x="355368" y="761768"/>
                    <a:pt x="345119" y="751519"/>
                  </a:cubicBezTo>
                  <a:lnTo>
                    <a:pt x="16007" y="422407"/>
                  </a:lnTo>
                  <a:cubicBezTo>
                    <a:pt x="5758" y="412158"/>
                    <a:pt x="0" y="398257"/>
                    <a:pt x="0" y="383763"/>
                  </a:cubicBezTo>
                  <a:cubicBezTo>
                    <a:pt x="0" y="369269"/>
                    <a:pt x="5758" y="355368"/>
                    <a:pt x="16007" y="345119"/>
                  </a:cubicBezTo>
                  <a:lnTo>
                    <a:pt x="345119" y="16007"/>
                  </a:lnTo>
                  <a:cubicBezTo>
                    <a:pt x="355368" y="5758"/>
                    <a:pt x="369269" y="0"/>
                    <a:pt x="383763" y="0"/>
                  </a:cubicBezTo>
                  <a:cubicBezTo>
                    <a:pt x="398257" y="0"/>
                    <a:pt x="412158" y="5758"/>
                    <a:pt x="422407" y="16007"/>
                  </a:cubicBezTo>
                  <a:close/>
                </a:path>
              </a:pathLst>
            </a:custGeom>
            <a:solidFill>
              <a:srgbClr val="FFFFFF"/>
            </a:solidFill>
          </p:spPr>
        </p:sp>
        <p:sp>
          <p:nvSpPr>
            <p:cNvPr name="TextBox 10" id="10"/>
            <p:cNvSpPr txBox="true"/>
            <p:nvPr/>
          </p:nvSpPr>
          <p:spPr>
            <a:xfrm>
              <a:off x="139700" y="101600"/>
              <a:ext cx="533400" cy="571500"/>
            </a:xfrm>
            <a:prstGeom prst="rect">
              <a:avLst/>
            </a:prstGeom>
          </p:spPr>
          <p:txBody>
            <a:bodyPr anchor="ctr" rtlCol="false" tIns="32480" lIns="32480" bIns="32480" rIns="32480"/>
            <a:lstStyle/>
            <a:p>
              <a:pPr algn="ctr">
                <a:lnSpc>
                  <a:spcPts val="3359"/>
                </a:lnSpc>
              </a:pPr>
            </a:p>
          </p:txBody>
        </p:sp>
      </p:grpSp>
      <p:grpSp>
        <p:nvGrpSpPr>
          <p:cNvPr name="Group 11" id="11"/>
          <p:cNvGrpSpPr/>
          <p:nvPr/>
        </p:nvGrpSpPr>
        <p:grpSpPr>
          <a:xfrm rot="0">
            <a:off x="11043687" y="-1684234"/>
            <a:ext cx="9329402" cy="8757915"/>
            <a:chOff x="0" y="0"/>
            <a:chExt cx="12439202" cy="11677220"/>
          </a:xfrm>
        </p:grpSpPr>
        <p:sp>
          <p:nvSpPr>
            <p:cNvPr name="Freeform 12" id="12"/>
            <p:cNvSpPr/>
            <p:nvPr/>
          </p:nvSpPr>
          <p:spPr>
            <a:xfrm flipH="false" flipV="false" rot="-8100000">
              <a:off x="-606142" y="7410713"/>
              <a:ext cx="7812876" cy="1521771"/>
            </a:xfrm>
            <a:custGeom>
              <a:avLst/>
              <a:gdLst/>
              <a:ahLst/>
              <a:cxnLst/>
              <a:rect r="r" b="b" t="t" l="l"/>
              <a:pathLst>
                <a:path h="1521771" w="7812876">
                  <a:moveTo>
                    <a:pt x="0" y="0"/>
                  </a:moveTo>
                  <a:lnTo>
                    <a:pt x="7812876" y="0"/>
                  </a:lnTo>
                  <a:lnTo>
                    <a:pt x="7812876" y="1521771"/>
                  </a:lnTo>
                  <a:lnTo>
                    <a:pt x="0" y="1521771"/>
                  </a:lnTo>
                  <a:lnTo>
                    <a:pt x="0" y="0"/>
                  </a:lnTo>
                  <a:close/>
                </a:path>
              </a:pathLst>
            </a:custGeom>
            <a:blipFill>
              <a:blip r:embed="rId2">
                <a:alphaModFix amt="27000"/>
              </a:blip>
              <a:stretch>
                <a:fillRect l="-21357" t="-4375" r="0" b="-4375"/>
              </a:stretch>
            </a:blipFill>
          </p:spPr>
        </p:sp>
        <p:sp>
          <p:nvSpPr>
            <p:cNvPr name="Freeform 13" id="13"/>
            <p:cNvSpPr/>
            <p:nvPr/>
          </p:nvSpPr>
          <p:spPr>
            <a:xfrm flipH="false" flipV="false" rot="-2700000">
              <a:off x="-428511" y="3015281"/>
              <a:ext cx="7095061" cy="1129812"/>
            </a:xfrm>
            <a:custGeom>
              <a:avLst/>
              <a:gdLst/>
              <a:ahLst/>
              <a:cxnLst/>
              <a:rect r="r" b="b" t="t" l="l"/>
              <a:pathLst>
                <a:path h="1129812" w="7095061">
                  <a:moveTo>
                    <a:pt x="0" y="0"/>
                  </a:moveTo>
                  <a:lnTo>
                    <a:pt x="7095060" y="0"/>
                  </a:lnTo>
                  <a:lnTo>
                    <a:pt x="7095060" y="1129812"/>
                  </a:lnTo>
                  <a:lnTo>
                    <a:pt x="0" y="1129812"/>
                  </a:lnTo>
                  <a:lnTo>
                    <a:pt x="0" y="0"/>
                  </a:lnTo>
                  <a:close/>
                </a:path>
              </a:pathLst>
            </a:custGeom>
            <a:blipFill>
              <a:blip r:embed="rId2">
                <a:alphaModFix amt="27000"/>
              </a:blip>
              <a:stretch>
                <a:fillRect l="0" t="-7391" r="-4716" b="-7391"/>
              </a:stretch>
            </a:blipFill>
          </p:spPr>
        </p:sp>
        <p:grpSp>
          <p:nvGrpSpPr>
            <p:cNvPr name="Group 14" id="14"/>
            <p:cNvGrpSpPr/>
            <p:nvPr/>
          </p:nvGrpSpPr>
          <p:grpSpPr>
            <a:xfrm rot="0">
              <a:off x="761983" y="0"/>
              <a:ext cx="11677220" cy="11677220"/>
              <a:chOff x="0" y="0"/>
              <a:chExt cx="812800" cy="812800"/>
            </a:xfrm>
          </p:grpSpPr>
          <p:sp>
            <p:nvSpPr>
              <p:cNvPr name="Freeform 15" id="15"/>
              <p:cNvSpPr/>
              <p:nvPr/>
            </p:nvSpPr>
            <p:spPr>
              <a:xfrm flipH="false" flipV="false" rot="0">
                <a:off x="20505" y="20505"/>
                <a:ext cx="771790" cy="771790"/>
              </a:xfrm>
              <a:custGeom>
                <a:avLst/>
                <a:gdLst/>
                <a:ahLst/>
                <a:cxnLst/>
                <a:rect r="r" b="b" t="t" l="l"/>
                <a:pathLst>
                  <a:path h="771790" w="771790">
                    <a:moveTo>
                      <a:pt x="420899" y="14499"/>
                    </a:moveTo>
                    <a:lnTo>
                      <a:pt x="757291" y="350891"/>
                    </a:lnTo>
                    <a:cubicBezTo>
                      <a:pt x="776623" y="370223"/>
                      <a:pt x="776623" y="401567"/>
                      <a:pt x="757291" y="420899"/>
                    </a:cubicBezTo>
                    <a:lnTo>
                      <a:pt x="420899" y="757291"/>
                    </a:lnTo>
                    <a:cubicBezTo>
                      <a:pt x="401567" y="776623"/>
                      <a:pt x="370223" y="776623"/>
                      <a:pt x="350891" y="757291"/>
                    </a:cubicBezTo>
                    <a:lnTo>
                      <a:pt x="14499" y="420899"/>
                    </a:lnTo>
                    <a:cubicBezTo>
                      <a:pt x="-4833" y="401567"/>
                      <a:pt x="-4833" y="370223"/>
                      <a:pt x="14499" y="350891"/>
                    </a:cubicBezTo>
                    <a:lnTo>
                      <a:pt x="350891" y="14499"/>
                    </a:lnTo>
                    <a:cubicBezTo>
                      <a:pt x="370223" y="-4833"/>
                      <a:pt x="401567" y="-4833"/>
                      <a:pt x="420899" y="14499"/>
                    </a:cubicBezTo>
                    <a:close/>
                  </a:path>
                </a:pathLst>
              </a:custGeom>
              <a:solidFill>
                <a:srgbClr val="FFFFFF"/>
              </a:solidFill>
            </p:spPr>
          </p:sp>
          <p:sp>
            <p:nvSpPr>
              <p:cNvPr name="TextBox 16" id="16"/>
              <p:cNvSpPr txBox="true"/>
              <p:nvPr/>
            </p:nvSpPr>
            <p:spPr>
              <a:xfrm>
                <a:off x="139700" y="101600"/>
                <a:ext cx="533400" cy="571500"/>
              </a:xfrm>
              <a:prstGeom prst="rect">
                <a:avLst/>
              </a:prstGeom>
            </p:spPr>
            <p:txBody>
              <a:bodyPr anchor="ctr" rtlCol="false" tIns="35858" lIns="35858" bIns="35858" rIns="35858"/>
              <a:lstStyle/>
              <a:p>
                <a:pPr algn="ctr">
                  <a:lnSpc>
                    <a:spcPts val="3360"/>
                  </a:lnSpc>
                </a:pPr>
              </a:p>
            </p:txBody>
          </p:sp>
        </p:grpSp>
        <p:grpSp>
          <p:nvGrpSpPr>
            <p:cNvPr name="Group 17" id="17"/>
            <p:cNvGrpSpPr/>
            <p:nvPr/>
          </p:nvGrpSpPr>
          <p:grpSpPr>
            <a:xfrm rot="0">
              <a:off x="1342217" y="580235"/>
              <a:ext cx="10516750" cy="10516750"/>
              <a:chOff x="0" y="0"/>
              <a:chExt cx="812800" cy="812800"/>
            </a:xfrm>
          </p:grpSpPr>
          <p:sp>
            <p:nvSpPr>
              <p:cNvPr name="Freeform 18" id="18"/>
              <p:cNvSpPr/>
              <p:nvPr/>
            </p:nvSpPr>
            <p:spPr>
              <a:xfrm flipH="false" flipV="false" rot="0">
                <a:off x="22768" y="22768"/>
                <a:ext cx="767265" cy="767265"/>
              </a:xfrm>
              <a:custGeom>
                <a:avLst/>
                <a:gdLst/>
                <a:ahLst/>
                <a:cxnLst/>
                <a:rect r="r" b="b" t="t" l="l"/>
                <a:pathLst>
                  <a:path h="767265" w="767265">
                    <a:moveTo>
                      <a:pt x="422499" y="16099"/>
                    </a:moveTo>
                    <a:lnTo>
                      <a:pt x="751165" y="344765"/>
                    </a:lnTo>
                    <a:cubicBezTo>
                      <a:pt x="772631" y="366231"/>
                      <a:pt x="772631" y="401033"/>
                      <a:pt x="751165" y="422499"/>
                    </a:cubicBezTo>
                    <a:lnTo>
                      <a:pt x="422499" y="751165"/>
                    </a:lnTo>
                    <a:cubicBezTo>
                      <a:pt x="401033" y="772631"/>
                      <a:pt x="366231" y="772631"/>
                      <a:pt x="344765" y="751165"/>
                    </a:cubicBezTo>
                    <a:lnTo>
                      <a:pt x="16099" y="422499"/>
                    </a:lnTo>
                    <a:cubicBezTo>
                      <a:pt x="-5367" y="401033"/>
                      <a:pt x="-5367" y="366231"/>
                      <a:pt x="16099" y="344765"/>
                    </a:cubicBezTo>
                    <a:lnTo>
                      <a:pt x="344765" y="16099"/>
                    </a:lnTo>
                    <a:cubicBezTo>
                      <a:pt x="366231" y="-5367"/>
                      <a:pt x="401033" y="-5367"/>
                      <a:pt x="422499" y="16099"/>
                    </a:cubicBezTo>
                    <a:close/>
                  </a:path>
                </a:pathLst>
              </a:custGeom>
              <a:blipFill>
                <a:blip r:embed="rId3"/>
                <a:stretch>
                  <a:fillRect l="-4791" t="0" r="-45584" b="0"/>
                </a:stretch>
              </a:blipFill>
            </p:spPr>
          </p:sp>
        </p:gr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false" flipV="false" rot="2660057">
            <a:off x="-2429201" y="8133341"/>
            <a:ext cx="7213276" cy="1200452"/>
          </a:xfrm>
          <a:custGeom>
            <a:avLst/>
            <a:gdLst/>
            <a:ahLst/>
            <a:cxnLst/>
            <a:rect r="r" b="b" t="t" l="l"/>
            <a:pathLst>
              <a:path h="1200452" w="7213276">
                <a:moveTo>
                  <a:pt x="0" y="0"/>
                </a:moveTo>
                <a:lnTo>
                  <a:pt x="7213276" y="0"/>
                </a:lnTo>
                <a:lnTo>
                  <a:pt x="7213276" y="1200452"/>
                </a:lnTo>
                <a:lnTo>
                  <a:pt x="0" y="1200452"/>
                </a:lnTo>
                <a:lnTo>
                  <a:pt x="0" y="0"/>
                </a:lnTo>
                <a:close/>
              </a:path>
            </a:pathLst>
          </a:custGeom>
          <a:blipFill>
            <a:blip r:embed="rId3">
              <a:alphaModFix amt="27000"/>
            </a:blip>
            <a:stretch>
              <a:fillRect l="0" t="-3924" r="-2830" b="-3924"/>
            </a:stretch>
          </a:blipFill>
        </p:spPr>
      </p:sp>
      <p:grpSp>
        <p:nvGrpSpPr>
          <p:cNvPr name="Group 4" id="4"/>
          <p:cNvGrpSpPr/>
          <p:nvPr/>
        </p:nvGrpSpPr>
        <p:grpSpPr>
          <a:xfrm rot="7929618">
            <a:off x="-1075674" y="6280342"/>
            <a:ext cx="3683145" cy="8550455"/>
            <a:chOff x="0" y="0"/>
            <a:chExt cx="1821570" cy="4228793"/>
          </a:xfrm>
        </p:grpSpPr>
        <p:sp>
          <p:nvSpPr>
            <p:cNvPr name="Freeform 5" id="5"/>
            <p:cNvSpPr/>
            <p:nvPr/>
          </p:nvSpPr>
          <p:spPr>
            <a:xfrm flipH="false" flipV="false" rot="0">
              <a:off x="0" y="0"/>
              <a:ext cx="1821570" cy="4228793"/>
            </a:xfrm>
            <a:custGeom>
              <a:avLst/>
              <a:gdLst/>
              <a:ahLst/>
              <a:cxnLst/>
              <a:rect r="r" b="b" t="t" l="l"/>
              <a:pathLst>
                <a:path h="4228793" w="1821570">
                  <a:moveTo>
                    <a:pt x="203200" y="0"/>
                  </a:moveTo>
                  <a:lnTo>
                    <a:pt x="1821570" y="0"/>
                  </a:lnTo>
                  <a:lnTo>
                    <a:pt x="1618370" y="4228793"/>
                  </a:lnTo>
                  <a:lnTo>
                    <a:pt x="0" y="4228793"/>
                  </a:lnTo>
                  <a:lnTo>
                    <a:pt x="203200" y="0"/>
                  </a:lnTo>
                  <a:close/>
                </a:path>
              </a:pathLst>
            </a:custGeom>
            <a:solidFill>
              <a:srgbClr val="00B176"/>
            </a:solidFill>
          </p:spPr>
        </p:sp>
        <p:sp>
          <p:nvSpPr>
            <p:cNvPr name="TextBox 6" id="6"/>
            <p:cNvSpPr txBox="true"/>
            <p:nvPr/>
          </p:nvSpPr>
          <p:spPr>
            <a:xfrm>
              <a:off x="101600" y="-38100"/>
              <a:ext cx="1618370" cy="4266893"/>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DAHU_K8IZok</dc:identifier>
  <dcterms:modified xsi:type="dcterms:W3CDTF">2011-08-01T06:04:30Z</dcterms:modified>
  <cp:revision>1</cp:revision>
  <dc:title>CO2 emissions  Presentation</dc:title>
</cp:coreProperties>
</file>